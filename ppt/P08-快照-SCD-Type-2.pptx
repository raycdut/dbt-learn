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800000"/>
            <a:ext cx="73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9DFF"/>
                </a:solidFill>
                <a:latin typeface="Arial"/>
              </a:defRPr>
            </a:pPr>
            <a:r>
              <a:t>P08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800000"/>
            <a:ext cx="7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Arial"/>
              </a:defRPr>
            </a:pPr>
            <a:r>
              <a:t>快照 — 一行配置搞定历史数据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34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8BBDD"/>
                </a:solidFill>
                <a:latin typeface="Arial"/>
              </a:defRPr>
            </a:pPr>
            <a:r>
              <a:t>dbt 从入门到精通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" y="3900000"/>
            <a:ext cx="2000000" cy="30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41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88"/>
                </a:solidFill>
                <a:latin typeface="Arial"/>
              </a:defRPr>
            </a:pPr>
            <a:r>
              <a:t>Nick  |  github.com/raycdut/dbt-learn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44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7788"/>
                </a:solidFill>
                <a:latin typeface="Arial"/>
              </a:defRPr>
            </a:pPr>
            <a:r>
              <a:t>《高级工程师视角下的 dbt 通关指南》系列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📋  什么是快照（Snapshot）？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1050000"/>
            <a:ext cx="8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场景：客户改了地址，你想知道「改之前的地址是什么」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0000" y="1500000"/>
            <a:ext cx="8300000" cy="12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580000"/>
            <a:ext cx="8100000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时间线：</a:t>
            </a:r>
          </a:p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┌──────────────┬──────────────┬──────────────┐</a:t>
            </a:r>
          </a:p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│  2026-01-01  │  2026-03-15  │  2026-06-01  │</a:t>
            </a:r>
          </a:p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│  地址: 北京   │  地址: 上海   │  地址: 深圳   │</a:t>
            </a:r>
          </a:p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│  status: A   │  status: A   │  status: B   │</a:t>
            </a:r>
          </a:p>
          <a:p>
            <a:pPr>
              <a:defRPr sz="1100">
                <a:solidFill>
                  <a:srgbClr val="FFCC44"/>
                </a:solidFill>
                <a:latin typeface="Courier New"/>
              </a:defRPr>
            </a:pPr>
            <a:r>
              <a:t>└──────────────┴──────────────┴──────────────┘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0000" y="2900000"/>
            <a:ext cx="4000000" cy="1800000"/>
          </a:xfrm>
          <a:prstGeom prst="round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300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555"/>
                </a:solidFill>
                <a:latin typeface="Arial"/>
              </a:defRPr>
            </a:pPr>
            <a:r>
              <a:t>普通表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3300000"/>
            <a:ext cx="38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只保留最新状态（地址 = 深圳）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丢失了全部历史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查不到「去年客户地址是什么」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0000" y="2900000"/>
            <a:ext cx="4000000" cy="1800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000" y="300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C66"/>
                </a:solidFill>
                <a:latin typeface="Arial"/>
              </a:defRPr>
            </a:pPr>
            <a:r>
              <a:t>快照表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000" y="3300000"/>
            <a:ext cx="38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每次变化新增一条记录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看到所有历史版本</a:t>
            </a:r>
          </a:p>
          <a:p>
            <a:pPr>
              <a:defRPr sz="1300">
                <a:solidFill>
                  <a:srgbClr val="CCCCDD"/>
                </a:solidFill>
                <a:latin typeface="Arial"/>
              </a:defRPr>
            </a:pPr>
            <a:r>
              <a:t>◆ 可查询任意时间点的「切片」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0000" y="4900000"/>
            <a:ext cx="8300000" cy="1500000"/>
          </a:xfrm>
          <a:prstGeom prst="round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0000" y="5000000"/>
            <a:ext cx="79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C99"/>
                </a:solidFill>
                <a:latin typeface="Arial"/>
              </a:defRPr>
            </a:pPr>
            <a:r>
              <a:t>💡 简单说：快照 = 带时间戳的版本控制，每改一次就留一个副本。</a:t>
            </a:r>
            <a:br/>
            <a:r>
              <a:t>普通表 UPDATE，快照表 INSERT + 旧行标记失效。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P08 - 快照 (SCD Type 2) | Nick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🔍  dbt snapshot 做了什么？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1000000"/>
            <a:ext cx="8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BBDD"/>
                </a:solidFill>
                <a:latin typeface="Arial"/>
              </a:defRPr>
            </a:pPr>
            <a:r>
              <a:t>db snapshot = 一行配置把普通表变成 SCD Type 2 版本表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0000" y="1400000"/>
            <a:ext cx="4200000" cy="25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480000"/>
            <a:ext cx="400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raw_customers（源表）</a:t>
            </a:r>
          </a:p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┌─────┬───────┬────────┐</a:t>
            </a:r>
          </a:p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│ id  │ name  │ city   │</a:t>
            </a:r>
          </a:p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├─────┼───────┼────────┤</a:t>
            </a:r>
          </a:p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│  1  │ 张三  │ 北京   │</a:t>
            </a:r>
          </a:p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│  1  │ 张三  │ 上海   │</a:t>
            </a:r>
          </a:p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│  1  │ 张三  │ 深圳   │</a:t>
            </a:r>
          </a:p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└─────┴───────┴────────┘</a:t>
            </a:r>
          </a:p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FFCC44"/>
                </a:solidFill>
                <a:latin typeface="Courier New"/>
              </a:defRPr>
            </a:pPr>
            <a:r>
              <a:t>(源表每行是变更记录)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0000" y="1400000"/>
            <a:ext cx="4200000" cy="25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000" y="1480000"/>
            <a:ext cx="400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customers_snapshot（快照表）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┌─────┬───────┬────────┬────────────┬──────────┐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│ id  │ name  │ city   │ valid_from │ valid_to │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├─────┼───────┼────────┼────────────┼──────────┤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│  1  │ 张三  │ 北京   │ 2026-01-01 │ 2026-03-15│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│  1  │ 张三  │ 上海   │ 2026-03-15 │ 2026-06-01│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│  1  │ 张三  │ 深圳   │ 2026-06-01 │ NULL     │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└─────┴───────┴────────┴────────────┴──────────┘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         ↑ 额外字段：dbt 自动添加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0000" y="4100000"/>
            <a:ext cx="8300000" cy="2300000"/>
          </a:xfrm>
          <a:prstGeom prst="round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000" y="4200000"/>
            <a:ext cx="7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dbt snapshot 自动做的事情：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4550000"/>
            <a:ext cx="79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比较源表当前数据和快照表最新版本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发现变化 → 旧行设置 dbt_valid_to，新行 INSERT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没有变化 → 什么都不做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物理删除 → 设置 dbt_valid_to（如果 invalidate_hard_deletes=True）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所有版本控制字段自动维护，零手写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P08 - 快照 (SCD Type 2) | Nick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1️⃣  配置快照 — 基本语法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050000"/>
            <a:ext cx="5000000" cy="26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1130000"/>
            <a:ext cx="4800000" cy="2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-- snapshots/customers_snapshot.sql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{% snapshot customers_snapshot %}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    {{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        config(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            target_schema='snapshots',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            unique_key='customer_id',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            strategy='timestamp',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            updated_at='updated_at',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            invalidate_hard_deletes=True,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        )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    }}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    SELECT * FROM {{ source('seed_data', 'raw_customers') }}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{% endsnapshot %}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00000" y="1050000"/>
            <a:ext cx="3200000" cy="26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50000" y="1150000"/>
            <a:ext cx="29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DD"/>
                </a:solidFill>
                <a:latin typeface="Arial"/>
              </a:defRPr>
            </a:pPr>
            <a:r>
              <a:t>◆ 参数说明：</a:t>
            </a:r>
          </a:p>
          <a:p>
            <a:pPr>
              <a:defRPr sz="1100">
                <a:solidFill>
                  <a:srgbClr val="CCCCDD"/>
                </a:solidFill>
                <a:latin typeface="Arial"/>
              </a:defRPr>
            </a:pPr>
            <a:r>
              <a:t>◆ target_schema</a:t>
            </a:r>
          </a:p>
          <a:p>
            <a:pPr lvl="1">
              <a:defRPr sz="900">
                <a:solidFill>
                  <a:srgbClr val="CCCCDD"/>
                </a:solidFill>
                <a:latin typeface="Arial"/>
              </a:defRPr>
            </a:pPr>
            <a:r>
              <a:t>  ◆ 快照存放的 schema</a:t>
            </a:r>
          </a:p>
          <a:p>
            <a:pPr>
              <a:defRPr sz="1100">
                <a:solidFill>
                  <a:srgbClr val="CCCCDD"/>
                </a:solidFill>
                <a:latin typeface="Arial"/>
              </a:defRPr>
            </a:pPr>
            <a:r>
              <a:t>◆ unique_key</a:t>
            </a:r>
          </a:p>
          <a:p>
            <a:pPr lvl="1">
              <a:defRPr sz="900">
                <a:solidFill>
                  <a:srgbClr val="CCCCDD"/>
                </a:solidFill>
                <a:latin typeface="Arial"/>
              </a:defRPr>
            </a:pPr>
            <a:r>
              <a:t>  ◆ 业务主键（辨认为同一实体）</a:t>
            </a:r>
          </a:p>
          <a:p>
            <a:pPr>
              <a:defRPr sz="1100">
                <a:solidFill>
                  <a:srgbClr val="CCCCDD"/>
                </a:solidFill>
                <a:latin typeface="Arial"/>
              </a:defRPr>
            </a:pPr>
            <a:r>
              <a:t>◆ strategy</a:t>
            </a:r>
          </a:p>
          <a:p>
            <a:pPr lvl="1">
              <a:defRPr sz="900">
                <a:solidFill>
                  <a:srgbClr val="CCCCDD"/>
                </a:solidFill>
                <a:latin typeface="Arial"/>
              </a:defRPr>
            </a:pPr>
            <a:r>
              <a:t>  ◆ timestamp（推荐）/ check_cols</a:t>
            </a:r>
          </a:p>
          <a:p>
            <a:pPr>
              <a:defRPr sz="1100">
                <a:solidFill>
                  <a:srgbClr val="CCCCDD"/>
                </a:solidFill>
                <a:latin typeface="Arial"/>
              </a:defRPr>
            </a:pPr>
            <a:r>
              <a:t>◆ updated_at</a:t>
            </a:r>
          </a:p>
          <a:p>
            <a:pPr lvl="1">
              <a:defRPr sz="900">
                <a:solidFill>
                  <a:srgbClr val="CCCCDD"/>
                </a:solidFill>
                <a:latin typeface="Arial"/>
              </a:defRPr>
            </a:pPr>
            <a:r>
              <a:t>  ◆ 源表的时间戳字段</a:t>
            </a:r>
          </a:p>
          <a:p>
            <a:pPr>
              <a:defRPr sz="1100">
                <a:solidFill>
                  <a:srgbClr val="CCCCDD"/>
                </a:solidFill>
                <a:latin typeface="Arial"/>
              </a:defRPr>
            </a:pPr>
            <a:r>
              <a:t>◆ invalidate_hard_deletes</a:t>
            </a:r>
          </a:p>
          <a:p>
            <a:pPr lvl="1">
              <a:defRPr sz="900">
                <a:solidFill>
                  <a:srgbClr val="CCCCDD"/>
                </a:solidFill>
                <a:latin typeface="Arial"/>
              </a:defRPr>
            </a:pPr>
            <a:r>
              <a:t>  ◆ 源表物理删除时标记失效</a:t>
            </a:r>
          </a:p>
          <a:p>
            <a:pPr>
              <a:defRPr sz="1100">
                <a:solidFill>
                  <a:srgbClr val="CCCCDD"/>
                </a:solidFill>
                <a:latin typeface="Arial"/>
              </a:defRPr>
            </a:pPr>
            <a:r>
              <a:t>◆ </a:t>
            </a:r>
          </a:p>
          <a:p>
            <a:pPr>
              <a:defRPr sz="1100">
                <a:solidFill>
                  <a:srgbClr val="CCCCDD"/>
                </a:solidFill>
                <a:latin typeface="Arial"/>
              </a:defRPr>
            </a:pPr>
            <a:r>
              <a:t>◆ 运行：</a:t>
            </a:r>
          </a:p>
          <a:p>
            <a:pPr lvl="1">
              <a:defRPr sz="900">
                <a:solidFill>
                  <a:srgbClr val="CCCCDD"/>
                </a:solidFill>
                <a:latin typeface="Arial"/>
              </a:defRPr>
            </a:pPr>
            <a:r>
              <a:t>  ◆ dbt snapshot</a:t>
            </a:r>
          </a:p>
          <a:p>
            <a:pPr lvl="1">
              <a:defRPr sz="900">
                <a:solidFill>
                  <a:srgbClr val="CCCCDD"/>
                </a:solidFill>
                <a:latin typeface="Arial"/>
              </a:defRPr>
            </a:pPr>
            <a:r>
              <a:t>  ◆ （跟 dbt run / seed 同级）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000" y="3900000"/>
            <a:ext cx="8300000" cy="3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0000" y="4100000"/>
            <a:ext cx="4100000" cy="22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4180000"/>
            <a:ext cx="3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DFF"/>
                </a:solidFill>
                <a:latin typeface="Arial"/>
              </a:defRPr>
            </a:pPr>
            <a:r>
              <a:t>timestamp 策略（推荐）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000" y="4500000"/>
            <a:ext cx="3800000" cy="6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000" y="4580000"/>
            <a:ext cx="36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strategy='timestamp'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updated_at='updated_at'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# 源表需要有更新时间戳字段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000" y="5300000"/>
            <a:ext cx="3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比较 max(updated_at) 判断变更</a:t>
            </a:r>
            <a:br/>
            <a:r>
              <a:t>性能好，推荐首选</a:t>
            </a:r>
            <a:br/>
            <a:r>
              <a:t>源表必须有时间戳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00000" y="4100000"/>
            <a:ext cx="4100000" cy="22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00" y="4180000"/>
            <a:ext cx="3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44"/>
                </a:solidFill>
                <a:latin typeface="Arial"/>
              </a:defRPr>
            </a:pPr>
            <a:r>
              <a:t>check_cols 策略（备选）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0000" y="4500000"/>
            <a:ext cx="3800000" cy="6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000" y="4580000"/>
            <a:ext cx="36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strategy='check_cols'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check_cols=['city', 'email']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# 没有时间戳时比较指定列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00" y="5300000"/>
            <a:ext cx="3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比较指定列的当前 vs 历史值</a:t>
            </a:r>
            <a:br/>
            <a:r>
              <a:t>check_cols='all'（慎用，性能差）</a:t>
            </a:r>
            <a:br/>
            <a:r>
              <a:t>相当于做全字段 diff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P08 - 快照 (SCD Type 2) | Nick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2️⃣  快照表的结构 + 查询方式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050000"/>
            <a:ext cx="2400000" cy="350000"/>
          </a:xfrm>
          <a:prstGeom prst="round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1100000"/>
            <a:ext cx="2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DFF"/>
                </a:solidFill>
                <a:latin typeface="Arial"/>
              </a:defRPr>
            </a:pPr>
            <a:r>
              <a:t>字段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0000" y="1050000"/>
            <a:ext cx="2600000" cy="350000"/>
          </a:xfrm>
          <a:prstGeom prst="round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50000" y="1100000"/>
            <a:ext cx="2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DFF"/>
                </a:solidFill>
                <a:latin typeface="Arial"/>
              </a:defRPr>
            </a:pPr>
            <a:r>
              <a:t>作用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0" y="1050000"/>
            <a:ext cx="3200000" cy="350000"/>
          </a:xfrm>
          <a:prstGeom prst="round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50000" y="1100000"/>
            <a:ext cx="31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DFF"/>
                </a:solidFill>
                <a:latin typeface="Arial"/>
              </a:defRPr>
            </a:pPr>
            <a:r>
              <a:t>示例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0000" y="1420000"/>
            <a:ext cx="2400000" cy="3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1470000"/>
            <a:ext cx="2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C99"/>
                </a:solidFill>
                <a:latin typeface="Arial"/>
              </a:defRPr>
            </a:pPr>
            <a:r>
              <a:t>dbt_scd_id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0000" y="1420000"/>
            <a:ext cx="2600000" cy="3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0000" y="1470000"/>
            <a:ext cx="2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唯一行标识（字段 hash）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00000" y="1420000"/>
            <a:ext cx="3200000" cy="3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50000" y="1470000"/>
            <a:ext cx="31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788"/>
                </a:solidFill>
                <a:latin typeface="Arial"/>
              </a:defRPr>
            </a:pPr>
            <a:r>
              <a:t>abc123...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0000" y="1790000"/>
            <a:ext cx="2400000" cy="3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000" y="1840000"/>
            <a:ext cx="2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C99"/>
                </a:solidFill>
                <a:latin typeface="Arial"/>
              </a:defRPr>
            </a:pPr>
            <a:r>
              <a:t>dbt_valid_from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00000" y="1790000"/>
            <a:ext cx="2600000" cy="3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0000" y="1840000"/>
            <a:ext cx="2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该版本开始时间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00000" y="1790000"/>
            <a:ext cx="3200000" cy="3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50000" y="1840000"/>
            <a:ext cx="31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788"/>
                </a:solidFill>
                <a:latin typeface="Arial"/>
              </a:defRPr>
            </a:pPr>
            <a:r>
              <a:t>2026-01-01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0000" y="2160000"/>
            <a:ext cx="2400000" cy="3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000" y="2210000"/>
            <a:ext cx="2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C99"/>
                </a:solidFill>
                <a:latin typeface="Arial"/>
              </a:defRPr>
            </a:pPr>
            <a:r>
              <a:t>dbt_valid_to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00000" y="2160000"/>
            <a:ext cx="2600000" cy="3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50000" y="2210000"/>
            <a:ext cx="2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该版本结束时间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00000" y="2160000"/>
            <a:ext cx="3200000" cy="3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000" y="2210000"/>
            <a:ext cx="31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788"/>
                </a:solidFill>
                <a:latin typeface="Arial"/>
              </a:defRPr>
            </a:pPr>
            <a:r>
              <a:t>2026-03-15（当前为 NULL）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0000" y="2530000"/>
            <a:ext cx="2400000" cy="3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000" y="2580000"/>
            <a:ext cx="2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C99"/>
                </a:solidFill>
                <a:latin typeface="Arial"/>
              </a:defRPr>
            </a:pPr>
            <a:r>
              <a:t>dbt_updated_at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00000" y="2530000"/>
            <a:ext cx="2600000" cy="3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50000" y="2580000"/>
            <a:ext cx="2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最后更新时间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00000" y="2530000"/>
            <a:ext cx="3200000" cy="3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50000" y="2580000"/>
            <a:ext cx="31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788"/>
                </a:solidFill>
                <a:latin typeface="Arial"/>
              </a:defRPr>
            </a:pPr>
            <a:r>
              <a:t>2026-03-15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0000" y="2900000"/>
            <a:ext cx="8300000" cy="3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0000" y="3050000"/>
            <a:ext cx="8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三种常用查询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0000" y="3400000"/>
            <a:ext cx="8300000" cy="10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3480000"/>
            <a:ext cx="8100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-- 1. 查当前数据：dbt_valid_to IS NULL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SELECT * FROM snapshots.customers_snapshot WHERE dbt_valid_to IS NULL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-- 2. 查某个客户的历史：ORDER BY dbt_valid_from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SELECT * FROM snapshots.customers_snapshot WHERE customer_id = 101 ORDER BY dbt_valid_from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-- 3. 查时间点快照：时间 BETWEEN valid_from AND COALESCE(valid_to, '9999-12-31')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SELECT * FROM snapshots.customers_snapshot</a:t>
            </a:r>
          </a:p>
          <a:p>
            <a:pPr>
              <a:defRPr sz="1000">
                <a:solidFill>
                  <a:srgbClr val="00CC99"/>
                </a:solidFill>
                <a:latin typeface="Courier New"/>
              </a:defRPr>
            </a:pPr>
            <a:r>
              <a:t>WHERE '2026-02-01' BETWEEN dbt_valid_from AND COALESCE(dbt_valid_to, '9999-12-31')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0000" y="4600000"/>
            <a:ext cx="8300000" cy="1800000"/>
          </a:xfrm>
          <a:prstGeom prst="round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0000" y="4700000"/>
            <a:ext cx="79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C99"/>
                </a:solidFill>
                <a:latin typeface="Arial"/>
              </a:defRPr>
            </a:pPr>
            <a:r>
              <a:t>💡 你的项目已配：</a:t>
            </a:r>
            <a:br/>
            <a:r>
              <a:t>• snapshots/customers_snapshot.sql — check_cols 策略，只监控 city 变化</a:t>
            </a:r>
            <a:br/>
            <a:r>
              <a:t>• seeds/raw_customers.csv — 3 个客户的演示数据</a:t>
            </a:r>
            <a:br/>
            <a:r>
              <a:t>• sources.yml → seed_data source 已就绪</a:t>
            </a:r>
            <a:br/>
            <a:r>
              <a:t>• 运行：dbt seed → dbt snapshot → 查询 snapshots 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P08 - 快照 (SCD Type 2) | Nick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3️⃣  实操：创建 + 运行快照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1050000"/>
            <a:ext cx="8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DFF"/>
                </a:solidFill>
                <a:latin typeface="Arial"/>
              </a:defRPr>
            </a:pPr>
            <a:r>
              <a:t>Step 1：导入 seed + 首次运行 snapshot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0000" y="1400000"/>
            <a:ext cx="5000000" cy="8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480000"/>
            <a:ext cx="4800000" cy="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# 导入 seed 数据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dbt seed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# 首次 snapshot（此时每人只有 1 条记录）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dbt snapshot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# 查看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duckdb dev.duckdb -c \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  "SELECT * FROM snapshots.customers_snapshot"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0" y="1400000"/>
            <a:ext cx="3200000" cy="8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50000" y="1500000"/>
            <a:ext cx="2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首次 snapshot 会把全部数据</a:t>
            </a:r>
            <a:br/>
            <a:r>
              <a:t>作为第一个版本写入</a:t>
            </a:r>
            <a:br/>
            <a:r>
              <a:t>dbt_valid_to = NULL</a:t>
            </a:r>
            <a:br/>
            <a:r>
              <a:t>（数据还没变过）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00" y="2400000"/>
            <a:ext cx="8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DFF"/>
                </a:solidFill>
                <a:latin typeface="Arial"/>
              </a:defRPr>
            </a:pPr>
            <a:r>
              <a:t>Step 2：模拟数据变化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0000" y="2750000"/>
            <a:ext cx="5000000" cy="8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2830000"/>
            <a:ext cx="4800000" cy="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# 把 raw_customers.csv 中张三的城市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# 从 北京 改成 上海，重新导入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duckdb dev.duckdb -c \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  "DROP TABLE IF EXISTS raw_customers;"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dbt seed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# 再次 snapshot</a:t>
            </a:r>
          </a:p>
          <a:p>
            <a:pPr>
              <a:defRPr sz="1100">
                <a:solidFill>
                  <a:srgbClr val="00CC99"/>
                </a:solidFill>
                <a:latin typeface="Courier New"/>
              </a:defRPr>
            </a:pPr>
            <a:r>
              <a:t>dbt snapshot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00000" y="2750000"/>
            <a:ext cx="3200000" cy="8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50000" y="2850000"/>
            <a:ext cx="2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Arial"/>
              </a:defRPr>
            </a:pPr>
            <a:r>
              <a:t>dbt 发现 city 变了</a:t>
            </a:r>
            <a:br/>
            <a:r>
              <a:t>→ 旧行设 dbt_valid_to</a:t>
            </a:r>
            <a:br/>
            <a:r>
              <a:t>→ 新行 INSERT</a:t>
            </a:r>
            <a:br/>
            <a:r>
              <a:t>张三现在有 2 条记录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000" y="3750000"/>
            <a:ext cx="8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DFF"/>
                </a:solidFill>
                <a:latin typeface="Arial"/>
              </a:defRPr>
            </a:pPr>
            <a:r>
              <a:t>Step 3：查看历史版本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000" y="4100000"/>
            <a:ext cx="8300000" cy="12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4180000"/>
            <a:ext cx="8100000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duckdb dev.duckdb -c "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SELECT customer_id, name, city, dbt_valid_from, dbt_valid_to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FROM snapshots.customers_snapshot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ORDER BY customer_id, dbt_valid_from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"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# 结果应该是：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# 101 | 张三 | 北京 | 2026-... | 2026-...  (旧版本)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# 101 | 张三 | 上海 | 2026-... | NULL       (当前版本)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# 102 | 李四 | 上海 | 2026-... | NULL       (没变过)</a:t>
            </a:r>
          </a:p>
          <a:p>
            <a:pPr>
              <a:defRPr sz="900">
                <a:solidFill>
                  <a:srgbClr val="00CC99"/>
                </a:solidFill>
                <a:latin typeface="Courier New"/>
              </a:defRPr>
            </a:pPr>
            <a:r>
              <a:t># 103 | 王五 | 深圳 | 2026-... | NULL       (没变过)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P08 - 快照 (SCD Type 2) | Nick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4️⃣  invalidate_hard_deletes — 处理物理删除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050000"/>
            <a:ext cx="8300000" cy="1500000"/>
          </a:xfrm>
          <a:prstGeom prst="round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1150000"/>
            <a:ext cx="79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❌ 默认行为：源表物理删除了某行 → 快照表什么也不做</a:t>
            </a:r>
            <a:br/>
            <a:r>
              <a:t>  → 你的 snapshot 里这条记录一直显示为当前有效</a:t>
            </a:r>
            <a:br/>
            <a:r>
              <a:t>  → 但实际上数据已经不存在了</a:t>
            </a:r>
            <a:br/>
            <a:br/>
            <a:r>
              <a:t>✅ invalidate_hard_deletes=True</a:t>
            </a:r>
            <a:br/>
            <a:r>
              <a:t>  → 下一轮 snapshot 时，把 dbt_valid_to 设为当前时间</a:t>
            </a:r>
            <a:br/>
            <a:r>
              <a:t>  → 标记为「已删除」，不再有效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2800000"/>
            <a:ext cx="8300000" cy="3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0000" y="3000000"/>
            <a:ext cx="8300000" cy="12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00" y="31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invalidate_hard_deletes 的原理：</a:t>
            </a:r>
            <a:br/>
            <a:r>
              <a:t>1. snapshot 查询源表的所有 unique_key</a:t>
            </a:r>
            <a:br/>
            <a:r>
              <a:t>2. 跟快照表中 dbt_valid_to IS NULL 的 unique_key 做差集</a:t>
            </a:r>
            <a:br/>
            <a:r>
              <a:t>3. 差集中的 key → 源表已删除 → 设置 dbt_valid_to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0000" y="4400000"/>
            <a:ext cx="8300000" cy="200000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000" y="4500000"/>
            <a:ext cx="7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⚡ 快照最佳实践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4900000"/>
            <a:ext cx="79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✅ 适合快照：客户信息 / 产品分类 / 组织架构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❌ 不适合：不可变日志 / 事实表 / 超大表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快照清理：DELETE FROM snapshots... WHERE dbt_valid_to &lt; 365 days</a:t>
            </a:r>
          </a:p>
          <a:p>
            <a:pPr>
              <a:defRPr sz="1200">
                <a:solidFill>
                  <a:srgbClr val="CCCCDD"/>
                </a:solidFill>
                <a:latin typeface="Arial"/>
              </a:defRPr>
            </a:pPr>
            <a:r>
              <a:t>◆ 查看膨胀率：GROUP BY customer_id ORDER BY COUNT(*) DESC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P08 - 快照 (SCD Type 2) | Nick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📊  SCD Type 1 / 2 / 3 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1000000"/>
            <a:ext cx="8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BBDD"/>
                </a:solidFill>
                <a:latin typeface="Arial"/>
              </a:defRPr>
            </a:pPr>
            <a:r>
              <a:t>假设客户的地址从北京改成上海：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0000" y="1400000"/>
            <a:ext cx="8300000" cy="1500000"/>
          </a:xfrm>
          <a:prstGeom prst="roundRect">
            <a:avLst/>
          </a:prstGeom>
          <a:solidFill>
            <a:srgbClr val="2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480000"/>
            <a:ext cx="8100000" cy="1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Type 1（覆盖）：         Type 2（保留历史）：      Type 3（保留上次）：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┌────────┬────────┐    ┌────────┬────────┬──────┐  ┌────────┬────────┬────────┐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│ city   │        │    │ city   │ valid_ │ valid│  │ city   │ prev_  │ prev_  │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│        │        │    │        │ from   │ to   │  │        │ city   │ date   │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├────────┼────────┤    ├────────┼────────┼──────┤  ├────────┼────────┼────────┤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│ 上海   │ ← 覆盖  │    │ 北京   │ 01-01  │ 03-15│  │ 上海   │ 北京   │ 03-15  │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└────────┴────────┘    │ 上海   │ 03-15  │ NULL │  └────────┴────────┴────────┘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北京丢了              └────────┴────────┴──────┘    只保留了上一次</a:t>
            </a:r>
          </a:p>
          <a:p>
            <a:pPr>
              <a:defRPr sz="1000">
                <a:solidFill>
                  <a:srgbClr val="FFCC44"/>
                </a:solidFill>
                <a:latin typeface="Courier New"/>
              </a:defRPr>
            </a:pPr>
            <a:r>
              <a:t>                            都在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0000" y="3000000"/>
            <a:ext cx="1800000" cy="300000"/>
          </a:xfrm>
          <a:prstGeom prst="round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3050000"/>
            <a:ext cx="1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DFF"/>
                </a:solidFill>
                <a:latin typeface="Arial"/>
              </a:defRPr>
            </a:pPr>
            <a:r>
              <a:t>维度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00000" y="3000000"/>
            <a:ext cx="2100000" cy="300000"/>
          </a:xfrm>
          <a:prstGeom prst="round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0000" y="305000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DFF"/>
                </a:solidFill>
                <a:latin typeface="Arial"/>
              </a:defRPr>
            </a:pPr>
            <a:r>
              <a:t>Type 1（覆盖）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0000" y="3000000"/>
            <a:ext cx="2100000" cy="300000"/>
          </a:xfrm>
          <a:prstGeom prst="round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0000" y="305000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DFF"/>
                </a:solidFill>
                <a:latin typeface="Arial"/>
              </a:defRPr>
            </a:pPr>
            <a:r>
              <a:t>Type 2（dbt snapshot）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000" y="3000000"/>
            <a:ext cx="2100000" cy="300000"/>
          </a:xfrm>
          <a:prstGeom prst="round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0000" y="305000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DFF"/>
                </a:solidFill>
                <a:latin typeface="Arial"/>
              </a:defRPr>
            </a:pPr>
            <a:r>
              <a:t>Type 3（手写）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000" y="3310000"/>
            <a:ext cx="1800000" cy="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000" y="3360000"/>
            <a:ext cx="1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历史保留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00000" y="3310000"/>
            <a:ext cx="2100000" cy="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0000" y="336000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❌ 全丢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0000" y="3310000"/>
            <a:ext cx="2100000" cy="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50000" y="336000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C99"/>
                </a:solidFill>
                <a:latin typeface="Arial"/>
              </a:defRPr>
            </a:pPr>
            <a:r>
              <a:t>✅ 全保留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000" y="3310000"/>
            <a:ext cx="2100000" cy="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0000" y="336000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944"/>
                </a:solidFill>
                <a:latin typeface="Arial"/>
              </a:defRPr>
            </a:pPr>
            <a:r>
              <a:t>⚠️ 只保留上次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0000" y="3620000"/>
            <a:ext cx="1800000" cy="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000" y="3670000"/>
            <a:ext cx="1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数据量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00000" y="3620000"/>
            <a:ext cx="2100000" cy="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50000" y="367000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一行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0000" y="3620000"/>
            <a:ext cx="2100000" cy="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50000" y="367000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C99"/>
                </a:solidFill>
                <a:latin typeface="Arial"/>
              </a:defRPr>
            </a:pPr>
            <a:r>
              <a:t>一行→N行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000" y="3620000"/>
            <a:ext cx="2100000" cy="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0000" y="367000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944"/>
                </a:solidFill>
                <a:latin typeface="Arial"/>
              </a:defRPr>
            </a:pPr>
            <a:r>
              <a:t>一行+2字段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0000" y="3930000"/>
            <a:ext cx="1800000" cy="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000" y="3980000"/>
            <a:ext cx="1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查当前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00000" y="3930000"/>
            <a:ext cx="2100000" cy="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50000" y="398000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SELECT *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00000" y="3930000"/>
            <a:ext cx="2100000" cy="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0000" y="398000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C99"/>
                </a:solidFill>
                <a:latin typeface="Arial"/>
              </a:defRPr>
            </a:pPr>
            <a:r>
              <a:t>WHERE valid_to IS NULL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000" y="3930000"/>
            <a:ext cx="2100000" cy="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0000" y="398000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944"/>
                </a:solidFill>
                <a:latin typeface="Arial"/>
              </a:defRPr>
            </a:pPr>
            <a:r>
              <a:t>SELECT *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0000" y="4240000"/>
            <a:ext cx="1800000" cy="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0000" y="4290000"/>
            <a:ext cx="1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查历史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00000" y="4240000"/>
            <a:ext cx="2100000" cy="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50000" y="429000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❌ 无法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00000" y="4240000"/>
            <a:ext cx="2100000" cy="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50000" y="429000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C99"/>
                </a:solidFill>
                <a:latin typeface="Arial"/>
              </a:defRPr>
            </a:pPr>
            <a:r>
              <a:t>✅ 任意时间点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000" y="4240000"/>
            <a:ext cx="2100000" cy="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50000" y="429000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944"/>
                </a:solidFill>
                <a:latin typeface="Arial"/>
              </a:defRPr>
            </a:pPr>
            <a:r>
              <a:t>⚠️ 只能看上一步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00000" y="4550000"/>
            <a:ext cx="1800000" cy="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0000" y="4600000"/>
            <a:ext cx="1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实现难度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200000" y="4550000"/>
            <a:ext cx="2100000" cy="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50000" y="460000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UPDATE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00000" y="4550000"/>
            <a:ext cx="2100000" cy="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50000" y="460000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C99"/>
                </a:solidFill>
                <a:latin typeface="Arial"/>
              </a:defRPr>
            </a:pPr>
            <a:r>
              <a:t>{% snapshot %}一行配置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000" y="4550000"/>
            <a:ext cx="2100000" cy="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50000" y="460000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944"/>
                </a:solidFill>
                <a:latin typeface="Arial"/>
              </a:defRPr>
            </a:pPr>
            <a:r>
              <a:t>手写 MERGE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00000" y="4860000"/>
            <a:ext cx="1800000" cy="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0000" y="4910000"/>
            <a:ext cx="1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适用场景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200000" y="4860000"/>
            <a:ext cx="2100000" cy="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50000" y="491000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不关心历史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00000" y="4860000"/>
            <a:ext cx="2100000" cy="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50000" y="491000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C99"/>
                </a:solidFill>
                <a:latin typeface="Arial"/>
              </a:defRPr>
            </a:pPr>
            <a:r>
              <a:t>审计/合规/时间旅行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000" y="4860000"/>
            <a:ext cx="2100000" cy="30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50000" y="491000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944"/>
                </a:solidFill>
                <a:latin typeface="Arial"/>
              </a:defRPr>
            </a:pPr>
            <a:r>
              <a:t>快速回看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00000" y="5300000"/>
            <a:ext cx="8300000" cy="1100000"/>
          </a:xfrm>
          <a:prstGeom prst="round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0000" y="5400000"/>
            <a:ext cx="7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BBDD"/>
                </a:solidFill>
                <a:latin typeface="Arial"/>
              </a:defRPr>
            </a:pPr>
            <a:r>
              <a:t>生产选型：90% → Type 2（dbt snapshot），8% → Type 1（默认 merge），2% → Type 3（手写 LAG）</a:t>
            </a:r>
            <a:br/>
            <a:r>
              <a:t>Type 2 一年膨胀 3-5x 行数，百万客户 ≈ 500 万行/年，对 Snowflake 没压力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P08 - 快照 (SCD Type 2) | Nick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⚠️  工程师直觉陷阱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0000" y="1200000"/>
            <a:ext cx="8100000" cy="1500000"/>
          </a:xfrm>
          <a:prstGeom prst="round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300000"/>
            <a:ext cx="78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🔥 直觉陷阱 1</a:t>
            </a:r>
            <a:br/>
            <a:r>
              <a:t>Type 2 数据膨胀太吓人了，感觉 Type 1 就够了</a:t>
            </a:r>
            <a:br/>
            <a:br/>
            <a:r>
              <a:t>✅ 现实</a:t>
            </a:r>
            <a:br/>
            <a:r>
              <a:t>典型企业维度表一年变化 3-5 次。100 万客户 × 5 次 = 500 万行/年。</a:t>
            </a:r>
            <a:br/>
            <a:r>
              <a:t>对 Snowflake 来说这点量跟没有一样。</a:t>
            </a:r>
            <a:br/>
            <a:r>
              <a:t>真正要小心的是每天全量 snapshot — 用 timestamp 策略只在下游变化时跑。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2900000"/>
            <a:ext cx="8100000" cy="1500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3000000"/>
            <a:ext cx="78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🔥 直觉陷阱 2</a:t>
            </a:r>
            <a:br/>
            <a:r>
              <a:t>Type 3 面试经常被问到，应该很常用</a:t>
            </a:r>
            <a:br/>
            <a:br/>
            <a:r>
              <a:t>✅ 现实</a:t>
            </a:r>
            <a:br/>
            <a:r>
              <a:t>Type 3 面试题多，实战极少。</a:t>
            </a:r>
            <a:br/>
            <a:r>
              <a:t>只保留上一次的边界太尴尬了 — 查两次变动它就丢了，审计追溯完全不达标。</a:t>
            </a:r>
            <a:br/>
            <a:r>
              <a:t>90% 场景 Type 2 够用，剩下 10% 不需要历史记录。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0000" y="4600000"/>
            <a:ext cx="8100000" cy="180000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4700000"/>
            <a:ext cx="7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C99"/>
                </a:solidFill>
                <a:latin typeface="Arial"/>
              </a:defRPr>
            </a:pPr>
            <a:r>
              <a:t>💡 实战映射 — 药企场景</a:t>
            </a:r>
            <a:br/>
            <a:r>
              <a:t>客户维度信息经常变（部门调整、地址变更、联系人换人）。</a:t>
            </a:r>
            <a:br/>
            <a:r>
              <a:t>用 snapshot 记录历史变更，做审计追溯时直接查：</a:t>
            </a:r>
            <a:br/>
            <a:r>
              <a:t>"去年这个时候 CRM 里客户地址存的是什么？"</a:t>
            </a:r>
            <a:br/>
            <a:br/>
            <a:r>
              <a:t>SELECT city FROM snapshots.customers_snapshot</a:t>
            </a:r>
            <a:br/>
            <a:r>
              <a:t>WHERE customer_id = 101 AND '2025-06-01' BETWEEN dbt_valid_from AND COALESCE(dbt_valid_to, '9999-12-31')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P08 - 快照 (SCD Type 2) | Nick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0000"/>
          </a:xfrm>
          <a:prstGeom prst="rect">
            <a:avLst/>
          </a:prstGeom>
          <a:solidFill>
            <a:srgbClr val="14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DFF"/>
                </a:solidFill>
                <a:latin typeface="Arial"/>
              </a:defRPr>
            </a:pPr>
            <a:r>
              <a:t>🛠️  同声传译 — 工程师视角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100000"/>
            <a:ext cx="2500000" cy="6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1150000"/>
            <a:ext cx="2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SCD Type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1380000"/>
            <a:ext cx="24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维度历史变化追踪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00000" y="1100000"/>
            <a:ext cx="2700000" cy="6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50000" y="1150000"/>
            <a:ext cx="2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0000" y="1380000"/>
            <a:ext cx="2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维度历史变化追踪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0000" y="1100000"/>
            <a:ext cx="3000000" cy="6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0000" y="1150000"/>
            <a:ext cx="2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0000" y="1380000"/>
            <a:ext cx="29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客户地址变了，新旧都留着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0000" y="1850000"/>
            <a:ext cx="2500000" cy="6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000" y="1900000"/>
            <a:ext cx="2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dbt snapshot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" y="2130000"/>
            <a:ext cx="24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Delta CDC + 时间旅行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00000" y="1850000"/>
            <a:ext cx="2700000" cy="6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0000" y="1900000"/>
            <a:ext cx="2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0000" y="2130000"/>
            <a:ext cx="2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Delta CDC + 时间旅行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0000" y="1850000"/>
            <a:ext cx="3000000" cy="6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0000" y="1900000"/>
            <a:ext cx="2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0000" y="2130000"/>
            <a:ext cx="29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一键开 SCD Type 2，零手写 MERGE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0000" y="2600000"/>
            <a:ext cx="2500000" cy="6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000" y="2650000"/>
            <a:ext cx="2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timestamp 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000" y="2880000"/>
            <a:ext cx="24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比较 max(updated_at)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00000" y="2600000"/>
            <a:ext cx="2700000" cy="6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50000" y="2650000"/>
            <a:ext cx="2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0000" y="2880000"/>
            <a:ext cx="2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比较 max(updated_at)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0000" y="2600000"/>
            <a:ext cx="3000000" cy="6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0000" y="2650000"/>
            <a:ext cx="2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0000" y="2880000"/>
            <a:ext cx="29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按时间戳判断行有没有更新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0000" y="3350000"/>
            <a:ext cx="2500000" cy="6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000" y="3400000"/>
            <a:ext cx="2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check_cols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000" y="3630000"/>
            <a:ext cx="24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exceptAll 比较字段值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00000" y="3350000"/>
            <a:ext cx="2700000" cy="6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50000" y="3400000"/>
            <a:ext cx="2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50000" y="3630000"/>
            <a:ext cx="2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exceptAll 比较字段值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00000" y="3350000"/>
            <a:ext cx="3000000" cy="6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0000" y="3400000"/>
            <a:ext cx="2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0000" y="3630000"/>
            <a:ext cx="29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没时间戳的时候比字段值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0000" y="4100000"/>
            <a:ext cx="2500000" cy="6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0000" y="4150000"/>
            <a:ext cx="2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dbt_valid_from/to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0000" y="4380000"/>
            <a:ext cx="24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Delta __start/__end_date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00000" y="4100000"/>
            <a:ext cx="2700000" cy="6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50000" y="4150000"/>
            <a:ext cx="2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50000" y="4380000"/>
            <a:ext cx="2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Delta __start/__end_date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800000" y="4100000"/>
            <a:ext cx="3000000" cy="6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50000" y="4150000"/>
            <a:ext cx="2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0000" y="4380000"/>
            <a:ext cx="29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版本有效期的起止时间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00000" y="4850000"/>
            <a:ext cx="2500000" cy="6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0000" y="4900000"/>
            <a:ext cx="2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FF"/>
                </a:solidFill>
                <a:latin typeface="Arial"/>
              </a:defRPr>
            </a:pPr>
            <a:r>
              <a:t>invalidate_hard_deletes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0000" y="5130000"/>
            <a:ext cx="24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软删除标记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00000" y="4850000"/>
            <a:ext cx="2700000" cy="6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50000" y="4900000"/>
            <a:ext cx="2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44"/>
                </a:solidFill>
                <a:latin typeface="Arial"/>
              </a:defRPr>
            </a:pPr>
            <a:r>
              <a:t>你熟悉的场景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50000" y="5130000"/>
            <a:ext cx="2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软删除标记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800000" y="4850000"/>
            <a:ext cx="3000000" cy="650000"/>
          </a:xfrm>
          <a:prstGeom prst="roundRect">
            <a:avLst/>
          </a:prstGeom>
          <a:solidFill>
            <a:srgbClr val="22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50000" y="4900000"/>
            <a:ext cx="2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C99"/>
                </a:solidFill>
                <a:latin typeface="Arial"/>
              </a:defRPr>
            </a:pPr>
            <a:r>
              <a:t>大白话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50000" y="5130000"/>
            <a:ext cx="29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Arial"/>
              </a:defRPr>
            </a:pPr>
            <a:r>
              <a:t>源删了行，快照标记失效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0000" y="6458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788"/>
                </a:solidFill>
                <a:latin typeface="Arial"/>
              </a:defRPr>
            </a:pPr>
            <a:r>
              <a:t>P08 - 快照 (SCD Type 2) | Nick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500000"/>
            <a:ext cx="73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CC66"/>
                </a:solidFill>
                <a:latin typeface="Arial"/>
              </a:defRPr>
            </a:pPr>
            <a:r>
              <a:t>✅  本集完成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500000"/>
            <a:ext cx="7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你已学会：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800000"/>
            <a:ext cx="73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什么是快照（带版本控制的维度表）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dbt snapshot 的一行配置（timestamp / check_cols）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快照自动添加的字段和三种常用查询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SCD Type 1/2/3 对比与生产选型</a:t>
            </a:r>
          </a:p>
          <a:p>
            <a:pPr>
              <a:defRPr sz="1400">
                <a:solidFill>
                  <a:srgbClr val="CCCCDD"/>
                </a:solidFill>
                <a:latin typeface="Arial"/>
              </a:defRPr>
            </a:pPr>
            <a:r>
              <a:t>◆ invalidate_hard_deletes 处理物理删除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4500000"/>
            <a:ext cx="8300000" cy="3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47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DFF"/>
                </a:solidFill>
                <a:latin typeface="Arial"/>
              </a:defRPr>
            </a:pPr>
            <a:r>
              <a:t>下一集：P09 — Hook + Operation：dbt 的生产化配置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54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7788"/>
                </a:solidFill>
                <a:latin typeface="Arial"/>
              </a:defRPr>
            </a:pPr>
            <a:r>
              <a:t>配套代码：github.com/raycdut/dbt-learn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5700000"/>
            <a:ext cx="7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BBDD"/>
                </a:solidFill>
                <a:latin typeface="Arial"/>
              </a:defRPr>
            </a:pPr>
            <a:r>
              <a:t>我是 Nick，下期见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