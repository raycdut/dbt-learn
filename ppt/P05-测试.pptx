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00000"/>
            <a:ext cx="7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9DFF"/>
                </a:solidFill>
                <a:latin typeface="Arial"/>
              </a:defRPr>
            </a:pPr>
            <a:r>
              <a:t>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7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测试与数据质量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BBDD"/>
                </a:solidFill>
                <a:latin typeface="Arial"/>
              </a:defRPr>
            </a:pPr>
            <a:r>
              <a:t>dbt 从入门到精通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3900000"/>
            <a:ext cx="2000000" cy="3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1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Arial"/>
              </a:defRPr>
            </a:pPr>
            <a:r>
              <a:t>Nick  |  github.com/raycdut/dbt-learn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《高级工程师视角下的 dbt 通关指南》系列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📋  为什么数据质量重要？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8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BI 报表数据错误 → 业务决策错误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ML 模型输入错误 → 预测偏差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花 2 小时排查"是不是 dbt 跑错了"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最后发现是源头脏数据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3800000"/>
            <a:ext cx="8100000" cy="18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3900000"/>
            <a:ext cx="7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99"/>
                </a:solidFill>
                <a:latin typeface="Arial"/>
              </a:defRPr>
            </a:pPr>
            <a:r>
              <a:t>💡 dbt 的解法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50000"/>
            <a:ext cx="7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把数据质量检查写进代码，每次 dbt run 自动验证</a:t>
            </a:r>
            <a:br/>
            <a:r>
              <a:t>而不是靠人工定期跑脚本查数据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1️⃣  测试分类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5000000" cy="5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80000"/>
            <a:ext cx="4800000" cy="4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dbt test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├── 内置测试 (out-of-the-box)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unique        唯一性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not_null      非空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accepted_values  枚举值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└── relationships    外键完整性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├── 通用测试 (dbt_utils 包)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unique_combination_of_columns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expression_is_true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recency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└── accepted_range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├── 自定义测试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├── singular (单个 SQL 文件)</a:t>
            </a:r>
          </a:p>
          <a:p>
            <a:pPr>
              <a:defRPr sz="1100">
                <a:solidFill>
                  <a:srgbClr val="CCCCDD"/>
                </a:solidFill>
                <a:latin typeface="Courier New"/>
              </a:defRPr>
            </a:pPr>
            <a:r>
              <a:t>│   └── generic (宏定义，可复用)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100000"/>
            <a:ext cx="3200000" cy="30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200000"/>
            <a:ext cx="29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44"/>
                </a:solidFill>
                <a:latin typeface="Arial"/>
              </a:defRPr>
            </a:pPr>
            <a:r>
              <a:t>三类测试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内置测试：零配置，YAML 声明即用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dbt_utils：需要 dbt deps 安装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singular test：手写 SQL 查坏数据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generic test：写一次到处复用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0" y="4300000"/>
            <a:ext cx="3200000" cy="18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0000" y="4400000"/>
            <a:ext cx="2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44"/>
                </a:solidFill>
                <a:latin typeface="Arial"/>
              </a:defRPr>
            </a:pPr>
            <a:r>
              <a:t>⚡ 核心规则</a:t>
            </a:r>
            <a:br/>
            <a:br/>
            <a:r>
              <a:t>测试返回 0 行 → PASS</a:t>
            </a:r>
            <a:br/>
            <a:r>
              <a:t>测试返回 ≥1 行 →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2️⃣  内置测试详解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40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00" y="1130000"/>
            <a:ext cx="3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Arial"/>
              </a:defRPr>
            </a:pPr>
            <a:r>
              <a:t>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000" y="137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BBDD"/>
                </a:solidFill>
                <a:latin typeface="Arial"/>
              </a:defRPr>
            </a:pPr>
            <a:r>
              <a:t>检查列值是否唯一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600000"/>
            <a:ext cx="3800000" cy="1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680000"/>
            <a:ext cx="360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SELECT id, COUNT(*)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FROM {{ ref('model') }}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GROUP BY id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HAVING COUNT(*) &gt;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00" y="1050000"/>
            <a:ext cx="40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0000" y="1130000"/>
            <a:ext cx="3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Arial"/>
              </a:defRPr>
            </a:pPr>
            <a:r>
              <a:t>not_null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0000" y="137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BBDD"/>
                </a:solidFill>
                <a:latin typeface="Arial"/>
              </a:defRPr>
            </a:pPr>
            <a:r>
              <a:t>检查是否有 NULL 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000" y="1600000"/>
            <a:ext cx="3800000" cy="1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0000" y="1680000"/>
            <a:ext cx="360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SELECT id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FROM {{ ref('model') }}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WHERE id IS NULL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" y="3750000"/>
            <a:ext cx="40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000" y="3830000"/>
            <a:ext cx="3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Arial"/>
              </a:defRPr>
            </a:pPr>
            <a:r>
              <a:t>accepted_values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" y="407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BBDD"/>
                </a:solidFill>
                <a:latin typeface="Arial"/>
              </a:defRPr>
            </a:pPr>
            <a:r>
              <a:t>检查值在允许范围内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000" y="4300000"/>
            <a:ext cx="3800000" cy="1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000" y="4380000"/>
            <a:ext cx="360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SELECT DISTINCT status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FROM {{ ref('model') }}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WHERE status NOT IN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  ('a', 'b', 'c')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00" y="3750000"/>
            <a:ext cx="40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0000" y="3830000"/>
            <a:ext cx="3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FF"/>
                </a:solidFill>
                <a:latin typeface="Arial"/>
              </a:defRPr>
            </a:pPr>
            <a:r>
              <a:t>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0000" y="407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BBDD"/>
                </a:solidFill>
                <a:latin typeface="Arial"/>
              </a:defRPr>
            </a:pPr>
            <a:r>
              <a:t>检查外键完整性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000" y="4300000"/>
            <a:ext cx="3800000" cy="1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0000" y="4380000"/>
            <a:ext cx="360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SELECT fk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FROM fact f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WHERE fk NOT IN</a:t>
            </a:r>
          </a:p>
          <a:p>
            <a:pPr>
              <a:defRPr sz="800">
                <a:solidFill>
                  <a:srgbClr val="00CC99"/>
                </a:solidFill>
                <a:latin typeface="Courier New"/>
              </a:defRPr>
            </a:pPr>
            <a:r>
              <a:t>  (SELECT pk FROM 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3️⃣  在 YAML 中声明测试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5000000" cy="4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80000"/>
            <a:ext cx="4800000" cy="4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version: 2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models: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- name: stg_orders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columns: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- name: order_id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tests: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- unique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- not_null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- name: customer_id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tests: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- not_null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- name: status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tests: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- accepted_values: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    values: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      - placed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      - shipped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      - completed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- name: amount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tests: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- not_null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- dbt_utils.accepted_range: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    min_value: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100000"/>
            <a:ext cx="3200000" cy="48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200000"/>
            <a:ext cx="29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内置测试：直接写测试名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dbt_utils 测试：包名.测试名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测试支持参数：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accepted_values.values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relationships.to / field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dbt_utils 的参数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min_value / max_value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💡 你项目里已经配了：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stg_sales_order_header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  accepted_values: [1..5]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fct_orders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  relationships → stg_customer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  expression_is_true: total_due&gt;0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4️⃣  dbt_utils — 通用测试包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00000"/>
            <a:ext cx="40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080000"/>
            <a:ext cx="38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# packages.yml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packages: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- package: dbt-labs/dbt_utils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version: "&gt;=1.0.0"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# 安装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dbt deps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00000" y="1000000"/>
            <a:ext cx="4100000" cy="12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0000" y="1100000"/>
            <a:ext cx="3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66"/>
                </a:solidFill>
                <a:latin typeface="Arial"/>
              </a:defRPr>
            </a:pPr>
            <a:r>
              <a:t>已安装 v1.3.3 ✓</a:t>
            </a:r>
            <a:br/>
            <a:br/>
            <a:r>
              <a:t>140+ 通用测试宏，覆盖大多数数据质量场景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24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2600000"/>
            <a:ext cx="83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dbt_utils.unique_combination_of_columns: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复合唯一键检查，比单独 unique 更精确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dbt_utils.expression_is_true: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自定义表达式断言（已用于 fct_orders.total_due &gt; 0）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dbt_utils.accepted_range: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值域检查：min_value / max_value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dbt_utils.recency: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数据新鲜度：最近一次数据更新距今不超过 N 天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dbt_utils.cardinality_equality:</a:t>
            </a:r>
          </a:p>
          <a:p>
            <a:pPr lvl="1">
              <a:defRPr sz="1100">
                <a:solidFill>
                  <a:srgbClr val="CCCCDD"/>
                </a:solidFill>
                <a:latin typeface="Arial"/>
              </a:defRPr>
            </a:pPr>
            <a:r>
              <a:t>  ◆ 两层数据量相等检查（源 vs 目标客户数一致）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5️⃣  自定义测试 — Singular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2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1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-- tests/assert_positive_total.sql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SELECT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    sales_order_id,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    total_due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FROM {{ ref('fct_orders') }}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WHERE total_due &lt;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3300000"/>
            <a:ext cx="5000000" cy="2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3380000"/>
            <a:ext cx="4800000" cy="1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-- tests/assert_valid_order_dates.sql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SELECT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    sales_order_id,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    order_date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FROM {{ ref('fct_orders') }}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WHERE order_date &gt; CURRENT_DATE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0" y="1050000"/>
            <a:ext cx="3200000" cy="4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0000" y="1150000"/>
            <a:ext cx="29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944"/>
                </a:solidFill>
                <a:latin typeface="Arial"/>
              </a:defRPr>
            </a:pPr>
            <a:r>
              <a:t>📝 Singular Test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一个 .sql 文件 = 一个测试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文件放在 tests/ 目录下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自动发现所有 .sql 文件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写法规则：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SELECT 查出"不该存在"的数据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返回 0 行 → PASS ✓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返回 ≥1 行 → FAIL ✗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💡 你项目里已有：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tests/assert_positive_total.sql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tests/assert_valid_order_dates.sql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dbt build 自动运行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6️⃣  自定义测试 — Generic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2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-- tests/generic/test_is_positive.sql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{% test is_positive(model, column_name) %}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SELECT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    {{ column_name }}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FROM {{ model }}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WHERE {{ column_name }} &lt;= 0</a:t>
            </a: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200">
                <a:solidFill>
                  <a:srgbClr val="00CC99"/>
                </a:solidFill>
                <a:latin typeface="Courier New"/>
              </a:defRPr>
            </a:pPr>
            <a:r>
              <a:t>{% endtest %}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3500000"/>
            <a:ext cx="5000000" cy="11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3580000"/>
            <a:ext cx="4800000" cy="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# 使用：在 YAML 中引用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columns: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- name: amount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tests: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      - is_positive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0" y="1050000"/>
            <a:ext cx="3200000" cy="3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0000" y="1150000"/>
            <a:ext cx="29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C99"/>
                </a:solidFill>
                <a:latin typeface="Arial"/>
              </a:defRPr>
            </a:pPr>
            <a:r>
              <a:t>🔁 Generic Test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宏模板 + YAML 引用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写一次，到处复用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两个固定参数：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model → 被测试的表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column_name → 被测试的列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位置：tests/generic/ 下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自动扫描加载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Singular vs Generic：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Singular = 一次性断言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Generic = 可复用 + YAML 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7️⃣  运行测试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4200000" cy="3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000000" cy="3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跑全部测试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test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跑指定 model 的测试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test --select fct_orders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跑 dbt build（run + test 一步）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build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存储失败记录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test --store-failures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只跑带标签的测试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test --select tag:critical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000" y="1050000"/>
            <a:ext cx="3900000" cy="32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0000" y="11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44"/>
                </a:solidFill>
                <a:latin typeface="Arial"/>
              </a:defRPr>
            </a:pPr>
            <a:r>
              <a:t>⚡ store_failures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0000" y="1500000"/>
            <a:ext cx="36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默认：测试失败只报错</a:t>
            </a:r>
            <a:br/>
            <a:r>
              <a:t>--store-failures 后：</a:t>
            </a:r>
            <a:br/>
            <a:r>
              <a:t>  把坏数据写进表</a:t>
            </a:r>
            <a:br/>
            <a:r>
              <a:t>  schema.dbt_test__audit</a:t>
            </a:r>
            <a:br/>
            <a:br/>
            <a:r>
              <a:t>方便排查：</a:t>
            </a:r>
            <a:br/>
            <a:r>
              <a:t>  SELECT * FROM audit</a:t>
            </a:r>
            <a:br/>
            <a:r>
              <a:t>  WHERE test_name = 'unique'</a:t>
            </a:r>
            <a:br/>
            <a:br/>
            <a:r>
              <a:t>全局开启：</a:t>
            </a:r>
            <a:br/>
            <a:r>
              <a:t>  dbt_project.yml 中配</a:t>
            </a:r>
            <a:br/>
            <a:r>
              <a:t>  +store_failures: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4500000"/>
            <a:ext cx="8300000" cy="18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4600000"/>
            <a:ext cx="7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C66"/>
                </a:solidFill>
                <a:latin typeface="Arial"/>
              </a:defRPr>
            </a:pPr>
            <a:r>
              <a:t>📊 你的项目跑完结果：</a:t>
            </a:r>
            <a:br/>
            <a:r>
              <a:t>132 steps - 11 models, 90 seeds, 31 data tests</a:t>
            </a:r>
            <a:br/>
            <a:r>
              <a:t>全部 PASS ✓</a:t>
            </a:r>
            <a:br/>
            <a:r>
              <a:t>包括 2 个 singular test + 1 个 dbt_utils.expression_is_true + 1 个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8️⃣  测试策略建议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10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必测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0" y="10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建议测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可选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1400000"/>
            <a:ext cx="8300000" cy="2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000" y="1550000"/>
            <a:ext cx="83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650000"/>
            <a:ext cx="9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6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44"/>
                </a:solidFill>
                <a:latin typeface="Arial"/>
              </a:defRPr>
            </a:pPr>
            <a:r>
              <a:t>not_null, unique (主键)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0000" y="16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accepted_values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165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" y="2350000"/>
            <a:ext cx="83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" y="2450000"/>
            <a:ext cx="9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Intermediate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000" y="24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44"/>
                </a:solidFill>
                <a:latin typeface="Arial"/>
              </a:defRPr>
            </a:pPr>
            <a:r>
              <a:t>not_null (关键字段)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0000" y="24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245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cardinality_equality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00" y="3150000"/>
            <a:ext cx="83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250000"/>
            <a:ext cx="9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FF"/>
                </a:solidFill>
                <a:latin typeface="Arial"/>
              </a:defRPr>
            </a:pPr>
            <a:r>
              <a:t>Marts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32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944"/>
                </a:solidFill>
                <a:latin typeface="Arial"/>
              </a:defRPr>
            </a:pPr>
            <a:r>
              <a:t>not_null, unique (主键)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0000" y="3250000"/>
            <a:ext cx="2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relationships, recency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250000"/>
            <a:ext cx="26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自定义业务规则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000" y="41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00" y="43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❌ 不要测什么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00" y="4650000"/>
            <a:ext cx="4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非关键字段的 not_null（允许 NULL）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内部逻辑字段的唯一性（不是业务主键）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跨大表的关系完整性（改抽样）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0000" y="4300000"/>
            <a:ext cx="4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⚠️ 测试失败怎么办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000" y="4650000"/>
            <a:ext cx="41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看日志：哪个 model / 字段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检查源数据是否脏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数据修复：UPDATE / 重跑 seed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加代码防御：stg 层过滤异常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重新 dbt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🛠️  同声传译 — 工程师视角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110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unique 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27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dropDuplicates count 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0" y="105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000" y="110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000" y="127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dropDuplicates count 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0000" y="105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0000" y="110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0000" y="127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检查列值是否唯一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00" y="178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183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not_null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00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filter(col.isNull()).count()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178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0000" y="183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0000" y="2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filter(col.isNull()).count()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0000" y="178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183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000" y="200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检查是否有空值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51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256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accepted_values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273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WHERE NOT IN 条件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000" y="251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0000" y="256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0000" y="273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WHERE NOT IN 条件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0000" y="251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0000" y="256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0000" y="273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值必须在允许范围内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324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329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relationships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346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事实表外键在维度表匹配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0" y="324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0000" y="329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50000" y="346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事实表外键在维度表匹配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0000" y="324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0000" y="329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0000" y="346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外键约束检查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0000" y="397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000" y="402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singular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" y="419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一条 SQL 脚本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0000" y="397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50000" y="402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0000" y="419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一条 SQL 脚本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00000" y="397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0000" y="402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0000" y="419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自定义数据质量规则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0000" y="470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000" y="475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generic 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000" y="492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可复用宏模板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00000" y="470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50000" y="475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0000" y="492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可复用宏模板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00000" y="470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0000" y="475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0000" y="492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写一次到处复用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000" y="5430000"/>
            <a:ext cx="25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0000" y="5480000"/>
            <a:ext cx="2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store_failures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000" y="56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_bad_records 分区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00000" y="5430000"/>
            <a:ext cx="27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50000" y="5480000"/>
            <a:ext cx="26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50000" y="5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_bad_records 分区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00000" y="5430000"/>
            <a:ext cx="3000000" cy="58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0000" y="5480000"/>
            <a:ext cx="29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0000" y="5650000"/>
            <a:ext cx="2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坏数据存下来分析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⚠️  工程师直觉陷阱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200000"/>
            <a:ext cx="8100000" cy="12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5555"/>
                </a:solidFill>
                <a:latin typeface="Arial"/>
              </a:defRPr>
            </a:pPr>
            <a:r>
              <a:t>🔥 直觉陷阱</a:t>
            </a:r>
            <a:br/>
            <a:r>
              <a:t>"测试应该在数据摄入时做，不是转换时"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600000"/>
            <a:ext cx="8100000" cy="15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700000"/>
            <a:ext cx="7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C99"/>
                </a:solidFill>
                <a:latin typeface="Arial"/>
              </a:defRPr>
            </a:pPr>
            <a:r>
              <a:t>✅ dbt 的方式</a:t>
            </a:r>
            <a:br/>
            <a:r>
              <a:t>两个阶段都要做。摄入时做 schema 校验，转换时做业务逻辑校验。</a:t>
            </a:r>
            <a:br/>
            <a:r>
              <a:t>比如订单金额不可能为负数——摄入时看不出来，转换层容易检测。</a:t>
            </a:r>
            <a:br/>
            <a:r>
              <a:t>类比：Bronze 层做格式检查，Silver/Gold 层做业务合理性检查。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300000"/>
            <a:ext cx="8100000" cy="12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44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BBDD"/>
                </a:solidFill>
                <a:latin typeface="Arial"/>
              </a:defRPr>
            </a:pPr>
            <a:r>
              <a:t>💡 实战映射</a:t>
            </a:r>
            <a:br/>
            <a:r>
              <a:t>你在药企架构里讨论的 cross_source_consistency 测试——</a:t>
            </a:r>
            <a:br/>
            <a:r>
              <a:t>不同数据源的同一个客户信息是否一致。</a:t>
            </a:r>
            <a:br/>
            <a:r>
              <a:t>用 dbt 的 relationships test + dbt_expectations 包可以直接写。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P05 - 测试与数据质量 | Nick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7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C66"/>
                </a:solidFill>
                <a:latin typeface="Arial"/>
              </a:defRPr>
            </a:pPr>
            <a:r>
              <a:t>✅  本集完成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500000"/>
            <a:ext cx="7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你已学会：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00000"/>
            <a:ext cx="7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三类测试：内置 / dbt_utils / 自定义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YAML 声明测试：unique, not_null, accepted_values, relationships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dbt_utils 通用测试包安装与使用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Singular + Generic 自定义测试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运行策略：dbt test / build / store-failures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分层测试策略：stg → int → marts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45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DFF"/>
                </a:solidFill>
                <a:latin typeface="Arial"/>
              </a:defRPr>
            </a:pPr>
            <a:r>
              <a:t>下一集：P06 — 自动文档 + 血缘图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配套代码：github.com/raycdut/dbt-learn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我是 Nick，下期见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