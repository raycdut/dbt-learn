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3"/>
    <p:restoredTop sz="96018"/>
  </p:normalViewPr>
  <p:slideViewPr>
    <p:cSldViewPr snapToGrid="0" snapToObjects="1">
      <p:cViewPr varScale="1">
        <p:scale>
          <a:sx n="112" d="100"/>
          <a:sy n="112" d="100"/>
        </p:scale>
        <p:origin x="232" y="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9DC71-4DAF-B840-88EC-1F054E251B41}" type="datetimeFigureOut">
              <a:rPr lang="en-CN" smtClean="0"/>
              <a:t>2026/5/16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669CD-44FE-8C4D-9F18-660B9259BA5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3759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669CD-44FE-8C4D-9F18-660B9259BA5D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8920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SQL + Jinja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D3EE"/>
                </a:solidFill>
                <a:latin typeface="Calibri"/>
              </a:defRPr>
            </a:pPr>
            <a:r>
              <a:t>dbt 里用得上的模板语法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32004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Nick · github.com/raycdut/dbt-learn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en-US" altLang="zh-CN" dirty="0"/>
              <a:t>1</a:t>
            </a:r>
            <a:r>
              <a:rPr lang="zh-CN" altLang="en-US" dirty="0"/>
              <a:t>秒了解</a:t>
            </a:r>
            <a:r>
              <a:rPr dirty="0"/>
              <a:t> Jinja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1978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3E"/>
                </a:solidFill>
                <a:latin typeface="Calibri"/>
              </a:defRPr>
            </a:pPr>
            <a:r>
              <a:rPr dirty="0"/>
              <a:t>Jinja vs Razor </a:t>
            </a:r>
            <a:r>
              <a:rPr dirty="0" err="1"/>
              <a:t>对比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40080" y="1472184"/>
            <a:ext cx="1371600" cy="27432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1472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语法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1472184"/>
            <a:ext cx="3200400" cy="27432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1472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Jinja (dbt/Flask)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1472184"/>
            <a:ext cx="3200400" cy="27432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1472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Razor (C#/ASP.NET)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472184"/>
            <a:ext cx="2743200" cy="27432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147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核心概念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746504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1746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表达式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1746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Consolas"/>
              </a:defRPr>
            </a:pPr>
            <a:r>
              <a:t>表达式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174650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1680" y="17465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{{ variable 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174650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17465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@variable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1746504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1746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输出值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2020824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2020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代码块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020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Consolas"/>
              </a:defRPr>
            </a:pPr>
            <a:r>
              <a:t>代码块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2020824"/>
            <a:ext cx="32004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11680" y="2020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{% if %} ... {% endif %}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2020824"/>
            <a:ext cx="32004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12080" y="2020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@if { ... 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020824"/>
            <a:ext cx="27432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80" y="2020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控制流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2295144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2295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注释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2295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Consolas"/>
              </a:defRPr>
            </a:pPr>
            <a:r>
              <a:t>注释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229514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011680" y="2295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{# comment #}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12080" y="229514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12080" y="2295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@* comment *@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2295144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12480" y="2295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隐藏注释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2569464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过滤器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Consolas"/>
              </a:defRPr>
            </a:pPr>
            <a:r>
              <a:t>过滤器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0" y="2569464"/>
            <a:ext cx="32004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01168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{{ name | upper 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2569464"/>
            <a:ext cx="32004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1208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@name.ToUpper()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2480" y="2569464"/>
            <a:ext cx="27432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12480" y="2569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值转换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2843784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2843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宏/函数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2843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Consolas"/>
              </a:defRPr>
            </a:pPr>
            <a:r>
              <a:t>宏/函数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11680" y="284378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011680" y="2843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rPr dirty="0"/>
              <a:t>{% macro </a:t>
            </a:r>
            <a:r>
              <a:rPr dirty="0" err="1"/>
              <a:t>fn</a:t>
            </a:r>
            <a:r>
              <a:rPr dirty="0"/>
              <a:t>() %} ... {% </a:t>
            </a:r>
            <a:r>
              <a:rPr dirty="0" err="1"/>
              <a:t>endmacro</a:t>
            </a:r>
            <a:r>
              <a:rPr dirty="0"/>
              <a:t> %}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12080" y="284378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212080" y="2843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@helper fn() { ... }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2843784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1248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onsolas"/>
              </a:defRPr>
            </a:pPr>
            <a:r>
              <a:t>复用逻辑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C3143-405D-400E-2CC0-731A066A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15B5D-99F3-68CD-9569-CE2004CD7265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CE212-5DA3-668C-7401-CA516E17EF9F}"/>
              </a:ext>
            </a:extLst>
          </p:cNvPr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为什么需要 Jinja？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5C1C92-3DC1-B00F-4176-33FF74C47CC2}"/>
              </a:ext>
            </a:extLst>
          </p:cNvPr>
          <p:cNvSpPr/>
          <p:nvPr/>
        </p:nvSpPr>
        <p:spPr>
          <a:xfrm>
            <a:off x="457200" y="11887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1F96E-2034-9FC5-FEB9-D180192961F9}"/>
              </a:ext>
            </a:extLst>
          </p:cNvPr>
          <p:cNvSpPr/>
          <p:nvPr/>
        </p:nvSpPr>
        <p:spPr>
          <a:xfrm>
            <a:off x="457200" y="1188720"/>
            <a:ext cx="54864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7A83D-A40D-B1F4-BAF6-1EB5416D0F8D}"/>
              </a:ext>
            </a:extLst>
          </p:cNvPr>
          <p:cNvSpPr txBox="1"/>
          <p:nvPr/>
        </p:nvSpPr>
        <p:spPr>
          <a:xfrm>
            <a:off x="6400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A3E"/>
                </a:solidFill>
                <a:latin typeface="Calibri"/>
              </a:defRPr>
            </a:pPr>
            <a:r>
              <a:t>①  硬编码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9A2C1-7C62-004F-1100-83C3114A228A}"/>
              </a:ext>
            </a:extLst>
          </p:cNvPr>
          <p:cNvSpPr txBox="1"/>
          <p:nvPr/>
        </p:nvSpPr>
        <p:spPr>
          <a:xfrm>
            <a:off x="594360" y="1691640"/>
            <a:ext cx="3200400" cy="14630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改一次口径要改 10 个文件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stg_sales_order_header 的 status_code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转中文标签写在每个引用它的 model 里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加一个新状态 → 全项目搜索替换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006CD3-363C-E967-2413-0A22A52BBBBA}"/>
              </a:ext>
            </a:extLst>
          </p:cNvPr>
          <p:cNvSpPr/>
          <p:nvPr/>
        </p:nvSpPr>
        <p:spPr>
          <a:xfrm>
            <a:off x="4297680" y="11887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5D4CC-C62D-D055-23D2-0D7AADD0926F}"/>
              </a:ext>
            </a:extLst>
          </p:cNvPr>
          <p:cNvSpPr/>
          <p:nvPr/>
        </p:nvSpPr>
        <p:spPr>
          <a:xfrm>
            <a:off x="4297680" y="118872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59CB9-4D37-34A2-50BE-E03C16907C20}"/>
              </a:ext>
            </a:extLst>
          </p:cNvPr>
          <p:cNvSpPr txBox="1"/>
          <p:nvPr/>
        </p:nvSpPr>
        <p:spPr>
          <a:xfrm>
            <a:off x="448056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A3E"/>
                </a:solidFill>
                <a:latin typeface="Calibri"/>
              </a:defRPr>
            </a:pPr>
            <a:r>
              <a:t>②  重复代码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0AD0C5-E025-417F-1662-1F1936E60715}"/>
              </a:ext>
            </a:extLst>
          </p:cNvPr>
          <p:cNvSpPr txBox="1"/>
          <p:nvPr/>
        </p:nvSpPr>
        <p:spPr>
          <a:xfrm>
            <a:off x="4434840" y="1691640"/>
            <a:ext cx="3200400" cy="14630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每个 model 里都写同样的 CASE WHEN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stg_person 的 person_type 转中文标签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写一次手工复制 5 个地方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改一次漏改一个 → 数据不一致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9B80C1-2A2B-A89A-2375-D920ACA704EC}"/>
              </a:ext>
            </a:extLst>
          </p:cNvPr>
          <p:cNvSpPr/>
          <p:nvPr/>
        </p:nvSpPr>
        <p:spPr>
          <a:xfrm>
            <a:off x="8138160" y="11887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F53BB7-FAB4-8D4A-88BC-61B9F9325ACD}"/>
              </a:ext>
            </a:extLst>
          </p:cNvPr>
          <p:cNvSpPr/>
          <p:nvPr/>
        </p:nvSpPr>
        <p:spPr>
          <a:xfrm>
            <a:off x="8138160" y="1188720"/>
            <a:ext cx="54864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49332-43E8-BFF7-2672-DA7E75E40F90}"/>
              </a:ext>
            </a:extLst>
          </p:cNvPr>
          <p:cNvSpPr txBox="1"/>
          <p:nvPr/>
        </p:nvSpPr>
        <p:spPr>
          <a:xfrm>
            <a:off x="83210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A3E"/>
                </a:solidFill>
                <a:latin typeface="Calibri"/>
              </a:defRPr>
            </a:pPr>
            <a:r>
              <a:t>③  条件逻辑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270E40-BCE2-4748-B92D-CD4FA7ABBF4E}"/>
              </a:ext>
            </a:extLst>
          </p:cNvPr>
          <p:cNvSpPr txBox="1"/>
          <p:nvPr/>
        </p:nvSpPr>
        <p:spPr>
          <a:xfrm>
            <a:off x="8275320" y="1691640"/>
            <a:ext cx="3200400" cy="14630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全量跑和增量跑要两套 SQL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dev 只取 100 条，prod 跑全量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没有 if/else → 两个文件分别维护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部署时还要记得选对文件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D95861-F32E-25EF-E3CB-00D8865B4E3D}"/>
              </a:ext>
            </a:extLst>
          </p:cNvPr>
          <p:cNvSpPr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03D84-B4E7-A1D0-ED06-47B4EA580B58}"/>
              </a:ext>
            </a:extLst>
          </p:cNvPr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💡 Jinja 的解法：把 SQL 变成模板，传参数就能变 — 在 SQL 里嵌入 Python 逻辑，让 SQL 也能编程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099D3D-EAC7-FEA0-943F-50FABD029F48}"/>
              </a:ext>
            </a:extLst>
          </p:cNvPr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698282-B012-24CD-0FF5-52DC8B781E45}"/>
              </a:ext>
            </a:extLst>
          </p:cNvPr>
          <p:cNvSpPr txBox="1"/>
          <p:nvPr/>
        </p:nvSpPr>
        <p:spPr>
          <a:xfrm>
            <a:off x="566928" y="4370832"/>
            <a:ext cx="5266944" cy="20482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# 无 Jinja：硬编码写死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CASE WHEN status_code = 1 THEN '进行中'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WHEN status_code = 2 THEN '已提交'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WHEN status_code = 3 THEN '已发货'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WHEN status_code = 4 THEN '已开票'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WHEN status_code = 5 THEN '已取消'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ELSE CAST(status_code AS VARCHAR)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END AS status_label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FROM {{ ref('stg_sales_order_header') }}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9526BF-DCE0-5138-40FD-91D7F8380D6F}"/>
              </a:ext>
            </a:extLst>
          </p:cNvPr>
          <p:cNvSpPr/>
          <p:nvPr/>
        </p:nvSpPr>
        <p:spPr>
          <a:xfrm>
            <a:off x="6217920" y="4297680"/>
            <a:ext cx="54864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924724-579E-3E3C-344C-8F37033B5FA4}"/>
              </a:ext>
            </a:extLst>
          </p:cNvPr>
          <p:cNvSpPr txBox="1"/>
          <p:nvPr/>
        </p:nvSpPr>
        <p:spPr>
          <a:xfrm>
            <a:off x="6327648" y="4370832"/>
            <a:ext cx="5266944" cy="20482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# 有 Jinja：抽成宏，到处引用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59E0B"/>
                </a:solidFill>
                <a:latin typeface="Consolas"/>
              </a:defRPr>
            </a:pPr>
            <a:r>
              <a:t>{% macro status_label(status_code) %}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CASE {{ status_code }}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WHEN 1 THEN '进行中'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WHEN 2 THEN '已提交'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WHEN 3 THEN '已发货'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WHEN 4 THEN '已开票'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WHEN 5 THEN '已取消'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END {% endmacro %}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E9B7E1-EE9B-87AE-6F97-8C997ED990C2}"/>
              </a:ext>
            </a:extLst>
          </p:cNvPr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8563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三种基本语法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{{ }} 表达式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" cy="4754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onsolas"/>
              </a:defRPr>
            </a:pPr>
            <a:r>
              <a:t>{{ target.name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4114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输出变量的值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引用 dbt 内置变量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引用 ref() / source()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WHERE order_date &gt;=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 '{{ var("start_date") }}'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-- dev → stg_customer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-- prod → stg_customer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{% %} 语句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54864" cy="4754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onsolas"/>
              </a:defRPr>
            </a:pPr>
            <a:r>
              <a:t>{% if %} … {% endif %}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200400" cy="4114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控制流程 (if / for)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条件判断 + 循环生成 SQL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{% for t in ['SC','IN','EM']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COUNT(CASE WHEN person_type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 = '{{ t }}' THEN 1 END)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 AS cnt_{{ t | lower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{%- if not loop.last %},{% endif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{% endfor %}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{# #} 注释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54864" cy="4754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onsolas"/>
              </a:defRPr>
            </a:pPr>
            <a:r>
              <a:t>{# 调试信息 #}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03120"/>
            <a:ext cx="3200400" cy="4114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不会出现在编译后的 SQL 中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用于调试 / 临时屏蔽代码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SELECT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 {# 临时注释 #}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 customer_id,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 full_name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FROM {{ ref('stg_person')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高频场景 ①：批量类型转换 + 动态列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212080" cy="23774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无 Jinja：每列单独写 CAST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    CAST(CustomerID AS INT64) AS customer_id,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    CAST(PersonID AS INT64) AS person_id,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    CAST(StoreID AS INT64) AS store_id,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AccountNumber AS account_number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{{ source('adventureworks', 'customer') 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280160"/>
            <a:ext cx="5212080" cy="23774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有 Jinja：宏封装，一行代替三行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{% macro cast_int(col)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    CAST(CAST({{ col }} AS VARCHAR) AS INT64)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{% endmacro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{{ cast_int('CustomerID') }} AS customer_id,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{{ cast_int('PersonID') }} AS person_id,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{{ cast_int('StoreID') }} AS store_id,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AccountNumber AS account_number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{{ source('adventureworks', 'customer')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5212080" cy="23774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动态分类统计 — 按 person_type 计数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{% set types = ['SC','IN','EM','VC','GC']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title,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{% for t in types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COUNT(CASE WHEN person_type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    = '{{ t }}' THEN 1 END)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        AS cnt_{{ t | lower 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{%- if not loop.last %},{% endif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{% endfor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{{ ref('stg_person') 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GROUP BY 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023360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5212080" cy="23774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编译后自动生成 5 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title,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COUNT(CASE WHEN person_type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        = 'SC' THEN 1 END) AS cnt_sc,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COUNT(CASE WHEN person_type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= 'IN' THEN 1 END) AS cnt_in,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    COUNT(CASE WHEN person_type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= 'EM' THEN 1 END) AS cnt_em,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COUNT(CASE WHEN person_type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        = 'VC' THEN 1 END) AS cnt_vc,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COUNT(CASE WHEN person_type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= 'GC' THEN 1 END) AS cnt_gc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FROM {{ ref('stg_person') 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GROUP BY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高频场景 ②：环境感知 + 动态拼接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029200" cy="1645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dev 环境限制数据量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 *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{{ source('adventureworks','customer') 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{% if target.name == 'dev'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LIMIT 1000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{% endif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# dev → LIMIT 1000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# prod → 全量无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280160"/>
            <a:ext cx="5212080" cy="1645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动态拼接 source 名称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{% set source_name = 'customer' %}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 *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{{ source('adventureworks', source_name) 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传入不同变量即可切换表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# 'customer' → sales_customer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# 'store' → sales_store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A3E"/>
                </a:solidFill>
                <a:latin typeface="Calibri"/>
              </a:defRPr>
            </a:pPr>
            <a:r>
              <a:t>内置变量速查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属性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840480"/>
            <a:ext cx="3657600" cy="36576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840480"/>
            <a:ext cx="3200400" cy="36576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示例值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target.name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206240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环境名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20624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'dev', 'prod'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target.schema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572000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目标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572000"/>
            <a:ext cx="32004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'main'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target.database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937760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数据库名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93776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'dev'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target.user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5303520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连接用户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303520"/>
            <a:ext cx="32004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'chendong'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5488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4754880"/>
            <a:ext cx="54864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3E"/>
                </a:solidFill>
                <a:latin typeface="Calibri"/>
              </a:defRPr>
            </a:pPr>
            <a:r>
              <a:t>var() — 自定义变量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120640"/>
            <a:ext cx="5074920" cy="14173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# dbt_project.yml 定义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vars: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start_date: '2026-01-01'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min_customer_id: 10000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# model 中使用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WHERE order_date &gt;= '{{ var("start_date") }}'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AND customer_id &gt;= {{ var("min_customer_id")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# 运行时覆盖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dbt run --vars '{"start_date":"2026-06-01"}'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75488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17920" y="475488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4800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3E"/>
                </a:solidFill>
                <a:latin typeface="Calibri"/>
              </a:defRPr>
            </a:pPr>
            <a:r>
              <a:t>env_var() — 环境变量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120640"/>
            <a:ext cx="5257800" cy="14173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# 敏感信息（密码/Key）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{{ env_var('DBT_PASSWORD')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# 设默认值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{{ env_var('DBT_SCHEMA', 'public')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💡 用于 CI/CD 传参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不在代码里写死数据库密码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警惕：Jinja 的坑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坑 1：空格控制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5544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463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{% if condition %}</a:t>
            </a:r>
            <a:br/>
            <a:r>
              <a:t>SELECT 1</a:t>
            </a:r>
            <a:br/>
            <a:r>
              <a:t>{% endif %}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737360"/>
            <a:ext cx="17373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78308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nsolas"/>
              </a:defRPr>
            </a:pPr>
            <a:r>
              <a:t>{% if condition -%}</a:t>
            </a:r>
            <a:br/>
            <a:r>
              <a:t>SELECT 1</a:t>
            </a:r>
            <a:br/>
            <a:r>
              <a:t>{%- endif %}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3383280" cy="4114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{%- %} 去除前后空格，避免空行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坑 2：不要写复杂逻辑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459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737360"/>
            <a:ext cx="15544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783080"/>
            <a:ext cx="1463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❌ 在 model 里写双重循环</a:t>
            </a:r>
            <a:br/>
            <a:r>
              <a:t>{% for r in records %}</a:t>
            </a:r>
            <a:br/>
            <a:r>
              <a:t>  {% for a in actions %}</a:t>
            </a:r>
            <a:br/>
            <a:r>
              <a:t>    {% if loop.first and ... %}</a:t>
            </a:r>
            <a:br/>
            <a:r>
              <a:t>      ...</a:t>
            </a:r>
            <a:br/>
            <a:r>
              <a:t>{% endfor %}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737360"/>
            <a:ext cx="17373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178308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nsolas"/>
              </a:defRPr>
            </a:pPr>
            <a:r>
              <a:t>✅ 封装到 macro 里</a:t>
            </a:r>
            <a:br/>
            <a:r>
              <a:t>{{ gen_events(records,</a:t>
            </a:r>
            <a:br/>
            <a:r>
              <a:t>    actions) 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114800"/>
            <a:ext cx="3383280" cy="4114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model 里只调 macro，逻辑放 macros/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坑 3：调试方法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6459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15544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1737360"/>
            <a:ext cx="1463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>
                <a:solidFill>
                  <a:srgbClr val="FFC000"/>
                </a:solidFill>
              </a:rPr>
            </a:br>
            <a:r>
              <a:rPr dirty="0" err="1">
                <a:solidFill>
                  <a:srgbClr val="FFC000"/>
                </a:solidFill>
              </a:rPr>
              <a:t>dbt</a:t>
            </a:r>
            <a:r>
              <a:rPr dirty="0">
                <a:solidFill>
                  <a:srgbClr val="FFC000"/>
                </a:solidFill>
              </a:rPr>
              <a:t> compile \</a:t>
            </a:r>
            <a:br>
              <a:rPr dirty="0">
                <a:solidFill>
                  <a:srgbClr val="FFC000"/>
                </a:solidFill>
              </a:rPr>
            </a:br>
            <a:r>
              <a:rPr dirty="0">
                <a:solidFill>
                  <a:srgbClr val="FFC000"/>
                </a:solidFill>
              </a:rPr>
              <a:t>  --select </a:t>
            </a:r>
            <a:r>
              <a:rPr dirty="0" err="1">
                <a:solidFill>
                  <a:srgbClr val="FFC000"/>
                </a:solidFill>
              </a:rPr>
              <a:t>my_model</a:t>
            </a:r>
            <a:br>
              <a:rPr dirty="0">
                <a:solidFill>
                  <a:srgbClr val="FFC000"/>
                </a:solidFill>
              </a:rPr>
            </a:br>
            <a:br>
              <a:rPr dirty="0">
                <a:solidFill>
                  <a:srgbClr val="FFC000"/>
                </a:solidFill>
              </a:rPr>
            </a:br>
            <a:r>
              <a:rPr dirty="0">
                <a:solidFill>
                  <a:srgbClr val="FFC000"/>
                </a:solidFill>
              </a:rPr>
              <a:t>cat target/compiled/...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1737360"/>
            <a:ext cx="17373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1240" y="1783080"/>
            <a:ext cx="1645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dirty="0" err="1">
                <a:solidFill>
                  <a:srgbClr val="FFC000"/>
                </a:solidFill>
              </a:rPr>
              <a:t>编译后才是最终</a:t>
            </a:r>
            <a:r>
              <a:rPr dirty="0">
                <a:solidFill>
                  <a:srgbClr val="FFC000"/>
                </a:solidFill>
              </a:rPr>
              <a:t> SQL</a:t>
            </a:r>
            <a:br>
              <a:rPr dirty="0">
                <a:solidFill>
                  <a:srgbClr val="FFC000"/>
                </a:solidFill>
              </a:rPr>
            </a:br>
            <a:r>
              <a:rPr dirty="0" err="1">
                <a:solidFill>
                  <a:srgbClr val="FFC000"/>
                </a:solidFill>
              </a:rPr>
              <a:t>直接看渲染结果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29600" y="4114800"/>
            <a:ext cx="3383280" cy="4114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dbt compile 查看编译后的 SQL，排查模板问题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实操练习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5029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A3E"/>
                </a:solidFill>
                <a:latin typeface="Calibri"/>
              </a:defRPr>
            </a:pPr>
            <a:r>
              <a:t>练习 1：环境感知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257800" cy="4617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写一个 model，在 dev 环境只取 1000 条，prod 全量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提示：用 target.name &amp;&amp; ref() 或 source()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参考答案：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SELECT 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FROM {{ source('adventureworks', 'customer')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{% if target.name == 'dev'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LIMIT 1000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{% endif %}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A3E"/>
                </a:solidFill>
                <a:latin typeface="Calibri"/>
              </a:defRPr>
            </a:pPr>
            <a:r>
              <a:t>练习 2：动态分类统计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257800" cy="4617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有一张表 stg_person(person_type, title)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用 Jinja 循环按 person_type 统计人数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提示：{% for %} 生成 5 个 COUNT 列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参考答案：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{% set types = ['SC','IN','EM','VC']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SELECT title,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{% for t in types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  COUNT(CASE WHEN person_type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    ='{{ t }}' THEN 1 END)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    AS cnt_{{ t | lower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  {%- if not loop.last %},{% endif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{% endfor %}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FROM {{ ref('stg_person') }}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GROUP BY title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Arial Black"/>
              </a:defRPr>
            </a:pPr>
            <a: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2743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D3EE"/>
                </a:solidFill>
                <a:latin typeface="Calibri"/>
              </a:defRPr>
            </a:pPr>
            <a:r>
              <a:t>配套代码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github.com/raycdut/dbt-learn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1389</Words>
  <Application>Microsoft Macintosh PowerPoint</Application>
  <PresentationFormat>Widescreen</PresentationFormat>
  <Paragraphs>251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 chen</cp:lastModifiedBy>
  <cp:revision>2</cp:revision>
  <dcterms:created xsi:type="dcterms:W3CDTF">2013-01-27T09:14:16Z</dcterms:created>
  <dcterms:modified xsi:type="dcterms:W3CDTF">2026-05-16T14:37:27Z</dcterms:modified>
  <cp:category/>
</cp:coreProperties>
</file>