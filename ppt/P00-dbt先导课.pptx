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B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1800000"/>
            <a:ext cx="78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9DFF"/>
                </a:solidFill>
                <a:latin typeface="Arial"/>
              </a:defRPr>
            </a:pPr>
            <a:r>
              <a:t>P00 先导课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0000" y="2900000"/>
            <a:ext cx="78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FFFFFF"/>
                </a:solidFill>
                <a:latin typeface="Arial"/>
              </a:defRPr>
            </a:pPr>
            <a:r>
              <a:t>dbt 是什么、为什么学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3800000"/>
            <a:ext cx="78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BBDD"/>
                </a:solidFill>
                <a:latin typeface="Arial"/>
              </a:defRPr>
            </a:pPr>
            <a:r>
              <a:t>dbt 从入门到精通 · Nick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78000"/>
            <a:ext cx="9144000" cy="80000"/>
          </a:xfrm>
          <a:prstGeom prst="rect">
            <a:avLst/>
          </a:prstGeom>
          <a:solidFill>
            <a:srgbClr val="009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000000" y="2600000"/>
            <a:ext cx="3000000" cy="4000"/>
          </a:xfrm>
          <a:prstGeom prst="rect">
            <a:avLst/>
          </a:prstGeom>
          <a:solidFill>
            <a:srgbClr val="00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B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0000" y="200000"/>
            <a:ext cx="8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9DFF"/>
                </a:solidFill>
                <a:latin typeface="Arial"/>
              </a:defRPr>
            </a:pPr>
            <a:r>
              <a:t>ELT vs ETL：数据的两种路线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0000" y="1000000"/>
            <a:ext cx="38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5555"/>
                </a:solidFill>
                <a:latin typeface="Arial"/>
              </a:defRPr>
            </a:pPr>
            <a:r>
              <a:t>❌ 传统 ETL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0000" y="1500000"/>
            <a:ext cx="3800000" cy="2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  <a:latin typeface="Arial"/>
              </a:defRPr>
            </a:pPr>
            <a:r>
              <a:t>  Source → ETL Tool → DW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  <a:latin typeface="Arial"/>
              </a:defRPr>
            </a:pPr>
            <a:r>
              <a:t>  在加载前做转换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  <a:latin typeface="Arial"/>
              </a:defRPr>
            </a:pPr>
            <a:r>
              <a:t>  工具：Informatica / Talend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  <a:latin typeface="Arial"/>
              </a:defRPr>
            </a:pPr>
            <a:r>
              <a:t>  流程重，维护成本高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  <a:latin typeface="Arial"/>
              </a:defRPr>
            </a:pPr>
            <a:r>
              <a:t>  Schema-on-write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00000" y="1000000"/>
            <a:ext cx="38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CC66"/>
                </a:solidFill>
                <a:latin typeface="Arial"/>
              </a:defRPr>
            </a:pPr>
            <a:r>
              <a:t>✅ 现代 ELT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00000" y="1500000"/>
            <a:ext cx="3800000" cy="2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  <a:latin typeface="Arial"/>
              </a:defRPr>
            </a:pPr>
            <a:r>
              <a:t>  Source → DW → dbt Transform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  <a:latin typeface="Arial"/>
              </a:defRPr>
            </a:pPr>
            <a:r>
              <a:t>  先加载全部数据再做转换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  <a:latin typeface="Arial"/>
              </a:defRPr>
            </a:pPr>
            <a:r>
              <a:t>  引擎：Snowflake / Bigquery / DuckDB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  <a:latin typeface="Arial"/>
              </a:defRPr>
            </a:pPr>
            <a:r>
              <a:t>  弹性算力，按需扩容</a:t>
            </a:r>
          </a:p>
          <a:p>
            <a:pPr>
              <a:spcAft>
                <a:spcPts val="600"/>
              </a:spcAft>
              <a:defRPr sz="1400">
                <a:solidFill>
                  <a:srgbClr val="CCCCDD"/>
                </a:solidFill>
                <a:latin typeface="Arial"/>
              </a:defRPr>
            </a:pPr>
            <a:r>
              <a:t>  Schema-on-read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00000" y="2200000"/>
            <a:ext cx="1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CC99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00000" y="4500000"/>
            <a:ext cx="6800000" cy="1200000"/>
          </a:xfrm>
          <a:prstGeom prst="roundRect">
            <a:avLst/>
          </a:prstGeom>
          <a:solidFill>
            <a:srgbClr val="222335"/>
          </a:solidFill>
          <a:ln w="12700">
            <a:solidFill>
              <a:srgbClr val="009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00000" y="4600000"/>
            <a:ext cx="64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9DFF"/>
                </a:solidFill>
                <a:latin typeface="Arial"/>
              </a:defRPr>
            </a:pPr>
            <a:r>
              <a:t>dbt 只做 T（Transform）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00000" y="5000000"/>
            <a:ext cx="64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DD"/>
                </a:solidFill>
                <a:latin typeface="Arial"/>
              </a:defRPr>
            </a:pPr>
            <a:r>
              <a:t>不抽数据（Extract）、不加载（Load）、不调度（Schedule）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00000" y="5300000"/>
            <a:ext cx="64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BBDD"/>
                </a:solidFill>
                <a:latin typeface="Arial"/>
              </a:defRPr>
            </a:pPr>
            <a:r>
              <a:t>跟你把 Spark pipeline 拆成多个 transform() 是一个思路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B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0000" y="200000"/>
            <a:ext cx="8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9DFF"/>
                </a:solidFill>
                <a:latin typeface="Arial"/>
              </a:defRPr>
            </a:pPr>
            <a:r>
              <a:t>dbt 是什么？不是什么？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0000" y="1100000"/>
            <a:ext cx="3800000" cy="2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5555"/>
                </a:solidFill>
              </a:defRPr>
            </a:pPr>
            <a:r>
              <a:t>❌ 不是</a:t>
            </a:r>
          </a:p>
          <a:p>
            <a:pPr>
              <a:spcAft>
                <a:spcPts val="800"/>
              </a:spcAft>
              <a:defRPr sz="1400">
                <a:solidFill>
                  <a:srgbClr val="CCCCDD"/>
                </a:solidFill>
              </a:defRPr>
            </a:pPr>
            <a:r>
              <a:t>    ✗ 不是数据库（不存数据）</a:t>
            </a:r>
          </a:p>
          <a:p>
            <a:pPr>
              <a:spcAft>
                <a:spcPts val="800"/>
              </a:spcAft>
              <a:defRPr sz="1400">
                <a:solidFill>
                  <a:srgbClr val="CCCCDD"/>
                </a:solidFill>
              </a:defRPr>
            </a:pPr>
            <a:r>
              <a:t>    ✗ 不是 ETL 工具（不做抽取加载）</a:t>
            </a:r>
          </a:p>
          <a:p>
            <a:pPr>
              <a:spcAft>
                <a:spcPts val="800"/>
              </a:spcAft>
              <a:defRPr sz="1400">
                <a:solidFill>
                  <a:srgbClr val="CCCCDD"/>
                </a:solidFill>
              </a:defRPr>
            </a:pPr>
            <a:r>
              <a:t>    ✗ 不是调度器（不负责定时跑）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00000" y="1100000"/>
            <a:ext cx="3800000" cy="2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CC66"/>
                </a:solidFill>
              </a:defRPr>
            </a:pPr>
            <a:r>
              <a:t>✅ 是</a:t>
            </a:r>
          </a:p>
          <a:p>
            <a:pPr>
              <a:spcAft>
                <a:spcPts val="800"/>
              </a:spcAft>
              <a:defRPr sz="1400">
                <a:solidFill>
                  <a:srgbClr val="CCCCDD"/>
                </a:solidFill>
              </a:defRPr>
            </a:pPr>
            <a:r>
              <a:t>    ✓ ✅ SQL 编译器 + 执行管理器</a:t>
            </a:r>
          </a:p>
          <a:p>
            <a:pPr>
              <a:spcAft>
                <a:spcPts val="800"/>
              </a:spcAft>
              <a:defRPr sz="1400">
                <a:solidFill>
                  <a:srgbClr val="CCCCDD"/>
                </a:solidFill>
              </a:defRPr>
            </a:pPr>
            <a:r>
              <a:t>    ✓ ✅ DAG 依赖管理器</a:t>
            </a:r>
          </a:p>
          <a:p>
            <a:pPr>
              <a:spcAft>
                <a:spcPts val="800"/>
              </a:spcAft>
              <a:defRPr sz="1400">
                <a:solidFill>
                  <a:srgbClr val="CCCCDD"/>
                </a:solidFill>
              </a:defRPr>
            </a:pPr>
            <a:r>
              <a:t>    ✓ ✅ 测试框架</a:t>
            </a:r>
          </a:p>
          <a:p>
            <a:pPr>
              <a:spcAft>
                <a:spcPts val="800"/>
              </a:spcAft>
              <a:defRPr sz="1400">
                <a:solidFill>
                  <a:srgbClr val="CCCCDD"/>
                </a:solidFill>
              </a:defRPr>
            </a:pPr>
            <a:r>
              <a:t>    ✓ ✅ 文档生成器</a:t>
            </a:r>
          </a:p>
          <a:p>
            <a:pPr>
              <a:spcAft>
                <a:spcPts val="800"/>
              </a:spcAft>
              <a:defRPr sz="1400">
                <a:solidFill>
                  <a:srgbClr val="CCCCDD"/>
                </a:solidFill>
              </a:defRPr>
            </a:pPr>
            <a:r>
              <a:t>    ✓ ✅ 部署工具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00000" y="4100000"/>
            <a:ext cx="6800000" cy="900000"/>
          </a:xfrm>
          <a:prstGeom prst="roundRect">
            <a:avLst/>
          </a:prstGeom>
          <a:solidFill>
            <a:srgbClr val="222335"/>
          </a:solidFill>
          <a:ln w="12700">
            <a:solidFill>
              <a:srgbClr val="FF99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00000" y="4200000"/>
            <a:ext cx="64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9944"/>
                </a:solidFill>
                <a:latin typeface="Arial"/>
              </a:defRPr>
            </a:pPr>
            <a:r>
              <a:t>💡 一句话：dbt = 用 SQL 写转换 + 自动管依赖/测试/文档/部署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B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0000" y="200000"/>
            <a:ext cx="8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9DFF"/>
                </a:solidFill>
                <a:latin typeface="Arial"/>
              </a:defRPr>
            </a:pPr>
            <a:r>
              <a:t>dbt Core vs Cloud Fusion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00000" y="1100000"/>
            <a:ext cx="4000000" cy="3000000"/>
          </a:xfrm>
          <a:prstGeom prst="roundRect">
            <a:avLst/>
          </a:prstGeom>
          <a:solidFill>
            <a:srgbClr val="15202D"/>
          </a:solidFill>
          <a:ln w="12700">
            <a:solidFill>
              <a:srgbClr val="009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0000" y="1150000"/>
            <a:ext cx="36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9DFF"/>
                </a:solidFill>
                <a:latin typeface="Arial"/>
              </a:defRPr>
            </a:pPr>
            <a:r>
              <a:t>dbt Core (开源 CLI)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0000" y="1650000"/>
            <a:ext cx="3600000" cy="2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CCCCDD"/>
                </a:solidFill>
                <a:latin typeface="Arial"/>
              </a:defRPr>
            </a:pPr>
            <a:r>
              <a:t>  免费，命令行操作</a:t>
            </a:r>
          </a:p>
          <a:p>
            <a:pPr>
              <a:spcAft>
                <a:spcPts val="500"/>
              </a:spcAft>
              <a:defRPr sz="1300">
                <a:solidFill>
                  <a:srgbClr val="CCCCDD"/>
                </a:solidFill>
                <a:latin typeface="Arial"/>
              </a:defRPr>
            </a:pPr>
            <a:r>
              <a:t>  VS Code / vim 编辑 SQL</a:t>
            </a:r>
          </a:p>
          <a:p>
            <a:pPr>
              <a:spcAft>
                <a:spcPts val="500"/>
              </a:spcAft>
              <a:defRPr sz="1300">
                <a:solidFill>
                  <a:srgbClr val="CCCCDD"/>
                </a:solidFill>
                <a:latin typeface="Arial"/>
              </a:defRPr>
            </a:pPr>
            <a:r>
              <a:t>  自己搭 cron / Airflow 调度</a:t>
            </a:r>
          </a:p>
          <a:p>
            <a:pPr>
              <a:spcAft>
                <a:spcPts val="500"/>
              </a:spcAft>
              <a:defRPr sz="1300">
                <a:solidFill>
                  <a:srgbClr val="CCCCDD"/>
                </a:solidFill>
                <a:latin typeface="Arial"/>
              </a:defRPr>
            </a:pPr>
            <a:r>
              <a:t>  手动部署文档</a:t>
            </a:r>
          </a:p>
          <a:p>
            <a:pPr>
              <a:spcAft>
                <a:spcPts val="500"/>
              </a:spcAft>
              <a:defRPr sz="1300">
                <a:solidFill>
                  <a:srgbClr val="CCCCDD"/>
                </a:solidFill>
                <a:latin typeface="Arial"/>
              </a:defRPr>
            </a:pPr>
            <a:r>
              <a:t>  纯手写 SQL</a:t>
            </a:r>
          </a:p>
          <a:p>
            <a:pPr>
              <a:spcAft>
                <a:spcPts val="500"/>
              </a:spcAft>
              <a:defRPr sz="1300">
                <a:solidFill>
                  <a:srgbClr val="CCCCDD"/>
                </a:solidFill>
                <a:latin typeface="Arial"/>
              </a:defRPr>
            </a:pPr>
            <a:r>
              <a:t>  适合：个人学习 / 自建团队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00000" y="1100000"/>
            <a:ext cx="4000000" cy="3000000"/>
          </a:xfrm>
          <a:prstGeom prst="roundRect">
            <a:avLst/>
          </a:prstGeom>
          <a:solidFill>
            <a:srgbClr val="15202D"/>
          </a:solidFill>
          <a:ln w="12700">
            <a:solidFill>
              <a:srgbClr val="00C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00000" y="1150000"/>
            <a:ext cx="36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CC99"/>
                </a:solidFill>
                <a:latin typeface="Arial"/>
              </a:defRPr>
            </a:pPr>
            <a:r>
              <a:t>dbt Cloud Fusion (SaaS)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00000" y="1650000"/>
            <a:ext cx="3600000" cy="2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CCCCDD"/>
                </a:solidFill>
                <a:latin typeface="Arial"/>
              </a:defRPr>
            </a:pPr>
            <a:r>
              <a:t>  付费，Web IDE + 平台</a:t>
            </a:r>
          </a:p>
          <a:p>
            <a:pPr>
              <a:spcAft>
                <a:spcPts val="500"/>
              </a:spcAft>
              <a:defRPr sz="1300">
                <a:solidFill>
                  <a:srgbClr val="CCCCDD"/>
                </a:solidFill>
                <a:latin typeface="Arial"/>
              </a:defRPr>
            </a:pPr>
            <a:r>
              <a:t>  在线协作编辑</a:t>
            </a:r>
          </a:p>
          <a:p>
            <a:pPr>
              <a:spcAft>
                <a:spcPts val="500"/>
              </a:spcAft>
              <a:defRPr sz="1300">
                <a:solidFill>
                  <a:srgbClr val="CCCCDD"/>
                </a:solidFill>
                <a:latin typeface="Arial"/>
              </a:defRPr>
            </a:pPr>
            <a:r>
              <a:t>  内置调度器 + 通知</a:t>
            </a:r>
          </a:p>
          <a:p>
            <a:pPr>
              <a:spcAft>
                <a:spcPts val="500"/>
              </a:spcAft>
              <a:defRPr sz="1300">
                <a:solidFill>
                  <a:srgbClr val="CCCCDD"/>
                </a:solidFill>
                <a:latin typeface="Arial"/>
              </a:defRPr>
            </a:pPr>
            <a:r>
              <a:t>  一键文档站 + AI 描述</a:t>
            </a:r>
          </a:p>
          <a:p>
            <a:pPr>
              <a:spcAft>
                <a:spcPts val="500"/>
              </a:spcAft>
              <a:defRPr sz="1300">
                <a:solidFill>
                  <a:srgbClr val="CCCCDD"/>
                </a:solidFill>
                <a:latin typeface="Arial"/>
              </a:defRPr>
            </a:pPr>
            <a:r>
              <a:t>  AI 辅助生成 SQL</a:t>
            </a:r>
          </a:p>
          <a:p>
            <a:pPr>
              <a:spcAft>
                <a:spcPts val="500"/>
              </a:spcAft>
              <a:defRPr sz="1300">
                <a:solidFill>
                  <a:srgbClr val="CCCCDD"/>
                </a:solidFill>
                <a:latin typeface="Arial"/>
              </a:defRPr>
            </a:pPr>
            <a:r>
              <a:t>  适合：中大型团队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000" y="4300000"/>
            <a:ext cx="6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9944"/>
                </a:solidFill>
                <a:latin typeface="Arial"/>
              </a:defRPr>
            </a:pPr>
            <a:r>
              <a:t>🎯 先用 Core 学底层逻辑 → 熟练后 Fusion 只是换个 UI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B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0000" y="200000"/>
            <a:ext cx="80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9DFF"/>
                </a:solidFill>
                <a:latin typeface="Arial"/>
              </a:defRPr>
            </a:pPr>
            <a:r>
              <a:t>dbt 解决的四大痛点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00000" y="950000"/>
            <a:ext cx="8200000" cy="1100000"/>
          </a:xfrm>
          <a:prstGeom prst="roundRect">
            <a:avLst/>
          </a:prstGeom>
          <a:solidFill>
            <a:srgbClr val="222335"/>
          </a:solidFill>
          <a:ln w="12700">
            <a:solidFill>
              <a:srgbClr val="009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0000" y="1030000"/>
            <a:ext cx="2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9DFF"/>
                </a:solidFill>
                <a:latin typeface="Arial"/>
              </a:defRPr>
            </a:pPr>
            <a:r>
              <a:t>① 依赖混乱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00000" y="1050000"/>
            <a:ext cx="5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DD"/>
                </a:solidFill>
                <a:latin typeface="Arial"/>
              </a:defRPr>
            </a:pPr>
            <a:r>
              <a:t>❌ 手动控制执行顺序，不敢确认上游就绪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00000" y="1450000"/>
            <a:ext cx="5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CC99"/>
                </a:solidFill>
                <a:latin typeface="Arial"/>
              </a:defRPr>
            </a:pPr>
            <a:r>
              <a:t>✅ ref() 自动解析 DAG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0000" y="2250000"/>
            <a:ext cx="8200000" cy="1100000"/>
          </a:xfrm>
          <a:prstGeom prst="roundRect">
            <a:avLst/>
          </a:prstGeom>
          <a:solidFill>
            <a:srgbClr val="222335"/>
          </a:solidFill>
          <a:ln w="12700">
            <a:solidFill>
              <a:srgbClr val="00C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0000" y="2330000"/>
            <a:ext cx="2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CC99"/>
                </a:solidFill>
                <a:latin typeface="Arial"/>
              </a:defRPr>
            </a:pPr>
            <a:r>
              <a:t>② SQL 拷贝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00000" y="2350000"/>
            <a:ext cx="5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DD"/>
                </a:solidFill>
                <a:latin typeface="Arial"/>
              </a:defRPr>
            </a:pPr>
            <a:r>
              <a:t>❌ 相同逻辑散落各处，改口径改十处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00000" y="2750000"/>
            <a:ext cx="5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CC99"/>
                </a:solidFill>
                <a:latin typeface="Arial"/>
              </a:defRPr>
            </a:pPr>
            <a:r>
              <a:t>✅ 宏 + 模型复用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0000" y="3550000"/>
            <a:ext cx="8200000" cy="1100000"/>
          </a:xfrm>
          <a:prstGeom prst="roundRect">
            <a:avLst/>
          </a:prstGeom>
          <a:solidFill>
            <a:srgbClr val="222335"/>
          </a:solidFill>
          <a:ln w="12700">
            <a:solidFill>
              <a:srgbClr val="FF99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0000" y="3630000"/>
            <a:ext cx="2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9944"/>
                </a:solidFill>
                <a:latin typeface="Arial"/>
              </a:defRPr>
            </a:pPr>
            <a:r>
              <a:t>③ 无质量门禁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00000" y="3650000"/>
            <a:ext cx="5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DD"/>
                </a:solidFill>
                <a:latin typeface="Arial"/>
              </a:defRPr>
            </a:pPr>
            <a:r>
              <a:t>❌ 数据跑完了才发现问题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00000" y="4050000"/>
            <a:ext cx="5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CC99"/>
                </a:solidFill>
                <a:latin typeface="Arial"/>
              </a:defRPr>
            </a:pPr>
            <a:r>
              <a:t>✅ 内置测试 + 自定义断言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00000" y="4850000"/>
            <a:ext cx="8200000" cy="1100000"/>
          </a:xfrm>
          <a:prstGeom prst="roundRect">
            <a:avLst/>
          </a:prstGeom>
          <a:solidFill>
            <a:srgbClr val="222335"/>
          </a:solidFill>
          <a:ln w="12700">
            <a:solidFill>
              <a:srgbClr val="00C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0000" y="4930000"/>
            <a:ext cx="2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CC66"/>
                </a:solidFill>
                <a:latin typeface="Arial"/>
              </a:defRPr>
            </a:pPr>
            <a:r>
              <a:t>④ 无文档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00000" y="4950000"/>
            <a:ext cx="5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DD"/>
                </a:solidFill>
                <a:latin typeface="Arial"/>
              </a:defRPr>
            </a:pPr>
            <a:r>
              <a:t>❌ 新同事问'这张表什么意思'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00000" y="5350000"/>
            <a:ext cx="5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CC99"/>
                </a:solidFill>
                <a:latin typeface="Arial"/>
              </a:defRPr>
            </a:pPr>
            <a:r>
              <a:t>✅ docs generate 自动出站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B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0000" y="200000"/>
            <a:ext cx="80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9DFF"/>
                </a:solidFill>
                <a:latin typeface="Arial"/>
              </a:defRPr>
            </a:pPr>
            <a:r>
              <a:t>谁在用 dbt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00000" y="1100000"/>
            <a:ext cx="2600000" cy="3500000"/>
          </a:xfrm>
          <a:prstGeom prst="roundRect">
            <a:avLst/>
          </a:prstGeom>
          <a:solidFill>
            <a:srgbClr val="222335"/>
          </a:solidFill>
          <a:ln w="6350">
            <a:solidFill>
              <a:srgbClr val="6677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0000" y="1200000"/>
            <a:ext cx="26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0">
                <a:solidFill>
                  <a:srgbClr val="009DFF"/>
                </a:solidFill>
                <a:latin typeface="Arial"/>
              </a:defRPr>
            </a:pPr>
            <a:r>
              <a:t>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0000" y="2000000"/>
            <a:ext cx="26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数据分析师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0000" y="2600000"/>
            <a:ext cx="22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DD"/>
                </a:solidFill>
                <a:latin typeface="Arial"/>
              </a:defRPr>
            </a:pPr>
            <a:r>
              <a:t>写 SQL 做转换</a:t>
            </a:r>
            <a:br/>
            <a:r>
              <a:t>不需要工程部署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00000" y="1100000"/>
            <a:ext cx="2600000" cy="3500000"/>
          </a:xfrm>
          <a:prstGeom prst="roundRect">
            <a:avLst/>
          </a:prstGeom>
          <a:solidFill>
            <a:srgbClr val="222335"/>
          </a:solidFill>
          <a:ln w="6350">
            <a:solidFill>
              <a:srgbClr val="6677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00000" y="1200000"/>
            <a:ext cx="26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0">
                <a:solidFill>
                  <a:srgbClr val="00CC99"/>
                </a:solidFill>
                <a:latin typeface="Arial"/>
              </a:defRPr>
            </a:pPr>
            <a:r>
              <a:t>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00000" y="2000000"/>
            <a:ext cx="26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数据工程师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00000" y="2600000"/>
            <a:ext cx="22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DD"/>
                </a:solidFill>
                <a:latin typeface="Arial"/>
              </a:defRPr>
            </a:pPr>
            <a:r>
              <a:t>搭建 pipeline</a:t>
            </a:r>
            <a:br/>
            <a:r>
              <a:t>管理生产环境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00000" y="1100000"/>
            <a:ext cx="2600000" cy="3500000"/>
          </a:xfrm>
          <a:prstGeom prst="roundRect">
            <a:avLst/>
          </a:prstGeom>
          <a:solidFill>
            <a:srgbClr val="222335"/>
          </a:solidFill>
          <a:ln w="12700">
            <a:solidFill>
              <a:srgbClr val="009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00000" y="1200000"/>
            <a:ext cx="26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0">
                <a:solidFill>
                  <a:srgbClr val="FF9944"/>
                </a:solidFill>
                <a:latin typeface="Arial"/>
              </a:defRPr>
            </a:pPr>
            <a:r>
              <a:t>🏗️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00000" y="2000000"/>
            <a:ext cx="26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数据架构师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000" y="2600000"/>
            <a:ext cx="22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DD"/>
                </a:solidFill>
                <a:latin typeface="Arial"/>
              </a:defRPr>
            </a:pPr>
            <a:r>
              <a:t>设计分层/规范</a:t>
            </a:r>
            <a:br/>
            <a:r>
              <a:t>多项目架构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00000" y="5000000"/>
            <a:ext cx="6800000" cy="900000"/>
          </a:xfrm>
          <a:prstGeom prst="roundRect">
            <a:avLst/>
          </a:prstGeom>
          <a:solidFill>
            <a:srgbClr val="222335"/>
          </a:solidFill>
          <a:ln w="12700">
            <a:solidFill>
              <a:srgbClr val="00C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00000" y="5100000"/>
            <a:ext cx="64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00CC99"/>
                </a:solidFill>
                <a:latin typeface="Arial"/>
              </a:defRPr>
            </a:pPr>
            <a:r>
              <a:t>你是架构师+工程师复合角色 — dbt 是架构落地工具，不只是 SQL 管理器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B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0000" y="200000"/>
            <a:ext cx="80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9DFF"/>
                </a:solidFill>
                <a:latin typeface="Arial"/>
              </a:defRPr>
            </a:pPr>
            <a:r>
              <a:t>学习路线：五阶段 19 集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00000" y="1000000"/>
            <a:ext cx="2200000" cy="850000"/>
          </a:xfrm>
          <a:prstGeom prst="roundRect">
            <a:avLst/>
          </a:prstGeom>
          <a:solidFill>
            <a:srgbClr val="009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0000" y="1100000"/>
            <a:ext cx="22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A1B26"/>
                </a:solidFill>
                <a:latin typeface="Arial"/>
              </a:defRPr>
            </a:pPr>
            <a:r>
              <a:t>Phase 1: 地基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0000" y="1450000"/>
            <a:ext cx="22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A1B26"/>
                </a:solidFill>
                <a:latin typeface="Arial"/>
              </a:defRPr>
            </a:pPr>
            <a:r>
              <a:t>4 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00000" y="1150000"/>
            <a:ext cx="4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9DFF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000" y="1100000"/>
            <a:ext cx="54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DD"/>
                </a:solidFill>
                <a:latin typeface="Arial"/>
              </a:defRPr>
            </a:pPr>
            <a:r>
              <a:t>环境搭建 → 第一个 model</a:t>
            </a:r>
            <a:br/>
            <a:r>
              <a:t>ref/source/Jinja</a:t>
            </a:r>
          </a:p>
        </p:txBody>
      </p:sp>
      <p:sp>
        <p:nvSpPr>
          <p:cNvPr id="8" name="Rectangle 7"/>
          <p:cNvSpPr/>
          <p:nvPr/>
        </p:nvSpPr>
        <p:spPr>
          <a:xfrm>
            <a:off x="400000" y="1950000"/>
            <a:ext cx="8200000" cy="2000"/>
          </a:xfrm>
          <a:prstGeom prst="rect">
            <a:avLst/>
          </a:prstGeom>
          <a:solidFill>
            <a:srgbClr val="333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00000" y="2050000"/>
            <a:ext cx="2200000" cy="850000"/>
          </a:xfrm>
          <a:prstGeom prst="roundRect">
            <a:avLst/>
          </a:prstGeom>
          <a:solidFill>
            <a:srgbClr val="00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0000" y="2150000"/>
            <a:ext cx="22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A1B26"/>
                </a:solidFill>
                <a:latin typeface="Arial"/>
              </a:defRPr>
            </a:pPr>
            <a:r>
              <a:t>Phase 2: 实战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0000" y="2500000"/>
            <a:ext cx="22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A1B26"/>
                </a:solidFill>
                <a:latin typeface="Arial"/>
              </a:defRPr>
            </a:pPr>
            <a:r>
              <a:t>4 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00000" y="2200000"/>
            <a:ext cx="4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CC99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000" y="2150000"/>
            <a:ext cx="54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DD"/>
                </a:solidFill>
                <a:latin typeface="Arial"/>
              </a:defRPr>
            </a:pPr>
            <a:r>
              <a:t>增量模型 / 测试 / 文档 / 宏</a:t>
            </a:r>
            <a:br/>
            <a:r>
              <a:t>日常开发核心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0000" y="3000000"/>
            <a:ext cx="8200000" cy="2000"/>
          </a:xfrm>
          <a:prstGeom prst="rect">
            <a:avLst/>
          </a:prstGeom>
          <a:solidFill>
            <a:srgbClr val="333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00000" y="3100000"/>
            <a:ext cx="2200000" cy="850000"/>
          </a:xfrm>
          <a:prstGeom prst="roundRect">
            <a:avLst/>
          </a:prstGeom>
          <a:solidFill>
            <a:srgbClr val="FF9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0000" y="3200000"/>
            <a:ext cx="22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A1B26"/>
                </a:solidFill>
                <a:latin typeface="Arial"/>
              </a:defRPr>
            </a:pPr>
            <a:r>
              <a:t>Phase 3: 生产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0000" y="3550000"/>
            <a:ext cx="22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A1B26"/>
                </a:solidFill>
                <a:latin typeface="Arial"/>
              </a:defRPr>
            </a:pPr>
            <a:r>
              <a:t>4 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250000"/>
            <a:ext cx="4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9944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000" y="3200000"/>
            <a:ext cx="54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DD"/>
                </a:solidFill>
                <a:latin typeface="Arial"/>
              </a:defRPr>
            </a:pPr>
            <a:r>
              <a:t>快照 / Hook / Exposure</a:t>
            </a:r>
            <a:br/>
            <a:r>
              <a:t>Airflow 集成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00000" y="4050000"/>
            <a:ext cx="8200000" cy="2000"/>
          </a:xfrm>
          <a:prstGeom prst="rect">
            <a:avLst/>
          </a:prstGeom>
          <a:solidFill>
            <a:srgbClr val="333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00000" y="4150000"/>
            <a:ext cx="2200000" cy="850000"/>
          </a:xfrm>
          <a:prstGeom prst="roundRect">
            <a:avLst/>
          </a:prstGeom>
          <a:solidFill>
            <a:srgbClr val="CC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00000" y="4250000"/>
            <a:ext cx="22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A1B26"/>
                </a:solidFill>
                <a:latin typeface="Arial"/>
              </a:defRPr>
            </a:pPr>
            <a:r>
              <a:t>Phase 4: 架构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0000" y="4600000"/>
            <a:ext cx="22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A1B26"/>
                </a:solidFill>
                <a:latin typeface="Arial"/>
              </a:defRPr>
            </a:pPr>
            <a:r>
              <a:t>4 课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00000" y="4300000"/>
            <a:ext cx="4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CC66FF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000" y="4250000"/>
            <a:ext cx="54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DD"/>
                </a:solidFill>
                <a:latin typeface="Arial"/>
              </a:defRPr>
            </a:pPr>
            <a:r>
              <a:t>Mesh / 分层设计 / 性能调优</a:t>
            </a:r>
            <a:br/>
            <a:r>
              <a:t>CI/CD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00000" y="5100000"/>
            <a:ext cx="8200000" cy="2000"/>
          </a:xfrm>
          <a:prstGeom prst="rect">
            <a:avLst/>
          </a:prstGeom>
          <a:solidFill>
            <a:srgbClr val="333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00000" y="5200000"/>
            <a:ext cx="2200000" cy="850000"/>
          </a:xfrm>
          <a:prstGeom prst="roundRect">
            <a:avLst/>
          </a:prstGeom>
          <a:solidFill>
            <a:srgbClr val="00C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00000" y="5300000"/>
            <a:ext cx="22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A1B26"/>
                </a:solidFill>
                <a:latin typeface="Arial"/>
              </a:defRPr>
            </a:pPr>
            <a:r>
              <a:t>Phase 5: 进阶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0000" y="5650000"/>
            <a:ext cx="22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A1B26"/>
                </a:solidFill>
                <a:latin typeface="Arial"/>
              </a:defRPr>
            </a:pPr>
            <a:r>
              <a:t>3 课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00000" y="5350000"/>
            <a:ext cx="4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CC6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0000" y="5300000"/>
            <a:ext cx="54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DD"/>
                </a:solidFill>
                <a:latin typeface="Arial"/>
              </a:defRPr>
            </a:pPr>
            <a:r>
              <a:t>源码阅读 / 插件开发</a:t>
            </a:r>
            <a:br/>
            <a:r>
              <a:t>大数据引擎集成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B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1800000"/>
            <a:ext cx="78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88BBDD"/>
                </a:solidFill>
                <a:latin typeface="Arial"/>
              </a:defRPr>
            </a:pPr>
            <a:r>
              <a:t>下一集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0000" y="2400000"/>
            <a:ext cx="78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9DFF"/>
                </a:solidFill>
                <a:latin typeface="Arial"/>
              </a:defRPr>
            </a:pPr>
            <a:r>
              <a:t>P01：环境搭建 + 第一个项目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3500000"/>
            <a:ext cx="78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00CC99"/>
                </a:solidFill>
                <a:latin typeface="Arial"/>
              </a:defRPr>
            </a:pPr>
            <a:r>
              <a:t>github.com/raycdut/dbt-learn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4200000"/>
            <a:ext cx="7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CCCDD"/>
                </a:solidFill>
                <a:latin typeface="Arial"/>
              </a:defRPr>
            </a:pPr>
            <a:r>
              <a:t>我是 Nick，下期见。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