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00000"/>
            <a:ext cx="7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9DFF"/>
                </a:solidFill>
                <a:latin typeface="Arial"/>
              </a:defRPr>
            </a:pPr>
            <a:r>
              <a:t>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800000"/>
            <a:ext cx="7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自动文档 + 血缘图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BBDD"/>
                </a:solidFill>
                <a:latin typeface="Arial"/>
              </a:defRPr>
            </a:pPr>
            <a:r>
              <a:t>dbt 从入门到精通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3900000"/>
            <a:ext cx="2000000" cy="3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1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Arial"/>
              </a:defRPr>
            </a:pPr>
            <a:r>
              <a:t>Nick  |  github.com/raycdut/dbt-learn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《高级工程师视角下的 dbt 通关指南》系列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📋  为什么自动文档重要？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100000"/>
            <a:ext cx="8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新同事问："这张 fct_orders 表啥意思？"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你回："就是订单…吧？"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查 10 分钟源码才发现是"已支付的订单"</a:t>
            </a:r>
          </a:p>
          <a:p>
            <a:pPr>
              <a:defRPr sz="1600">
                <a:solidFill>
                  <a:srgbClr val="CCCCDD"/>
                </a:solidFill>
                <a:latin typeface="Arial"/>
              </a:defRPr>
            </a:pPr>
            <a:r>
              <a:t>◆ 不同表里同名字段的口径不一致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3800000"/>
            <a:ext cx="8100000" cy="18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3900000"/>
            <a:ext cx="7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99"/>
                </a:solidFill>
                <a:latin typeface="Arial"/>
              </a:defRPr>
            </a:pPr>
            <a:r>
              <a:t>💡 dbt 的解法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50000"/>
            <a:ext cx="7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在 schema.yml 里写描述</a:t>
            </a:r>
            <a:br/>
            <a:r>
              <a:t>→ 一键生成文档站（dbt docs generate）</a:t>
            </a:r>
            <a:br/>
            <a:r>
              <a:t>→ 改代码时顺手更新，再也不用追着人补文档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P06 - 自动文档 + 血缘图 | Nick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1️⃣  写描述 — model + column +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5000000" cy="30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30000"/>
            <a:ext cx="4800000" cy="2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version: 2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models: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- name: fct_orders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description: |-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订单事实表。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包含所有已支付订单明细，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每日增量更新。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上游：stg_orders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下游：BI 报表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columns: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- name: order_id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  description: "订单唯一标识"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- name: amount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  description: "金额（含税）"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- name: status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        description: "placed/shipped/..."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0" y="1050000"/>
            <a:ext cx="3200000" cy="30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0000" y="1150000"/>
            <a:ext cx="29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三层描述都要写：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model 级 → 表的业务含义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column 级 → 字段口径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source 级 → 数据来源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支持 YAML 多行 | 语法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支持 Markdown 格式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跟代码一起 PR 审查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4300000"/>
            <a:ext cx="8300000" cy="18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4400000"/>
            <a:ext cx="7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C99"/>
                </a:solidFill>
                <a:latin typeface="Arial"/>
              </a:defRPr>
            </a:pPr>
            <a:r>
              <a:t>📝 你的项目已配置：</a:t>
            </a:r>
            <a:br/>
            <a:r>
              <a:t>• 所有 stg/int/marts 层 model 已加 description</a:t>
            </a:r>
            <a:br/>
            <a:r>
              <a:t>• fct_orders 用了 docs block（Markdown 富文档）</a:t>
            </a:r>
            <a:br/>
            <a:r>
              <a:t>• stg_sales_order_header 也配了 docs block</a:t>
            </a:r>
            <a:br/>
            <a:r>
              <a:t>• 文档和代码同 PR，更新即可同步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P06 - 自动文档 + 血缘图 | Nick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2️⃣  生成文档 &amp; 启动服务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5000000" cy="16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30000"/>
            <a:ext cx="4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# 1. 生成文档（需先 dbt run）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dbt docs generate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# 2. 启动本地文档站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dbt docs serve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# 浏览器打开 http://localhost:8080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0" y="1050000"/>
            <a:ext cx="3200000" cy="16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0000" y="1150000"/>
            <a:ext cx="29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 docs generate：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读取 schema.yml → catalog.json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生成静态 HTML 文档站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 docs serve：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启动 Flask 服务预览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29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00" y="3100000"/>
            <a:ext cx="8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你能在文档站看到什么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00" y="3550000"/>
            <a:ext cx="4000000" cy="8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63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DFF"/>
                </a:solidFill>
                <a:latin typeface="Arial"/>
              </a:defRPr>
            </a:pPr>
            <a:r>
              <a:t>📋 项目总览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9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所有 model 列表 + 数据源 + 测试统计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0000" y="3550000"/>
            <a:ext cx="4000000" cy="8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00" y="363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DFF"/>
                </a:solidFill>
                <a:latin typeface="Arial"/>
              </a:defRPr>
            </a:pPr>
            <a:r>
              <a:t>🔍 单 model 详情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00" y="39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SQL 代码 + 字段描述 + 属性 + 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00" y="4550000"/>
            <a:ext cx="4000000" cy="8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463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DFF"/>
                </a:solidFill>
                <a:latin typeface="Arial"/>
              </a:defRPr>
            </a:pPr>
            <a:r>
              <a:t>🔗 血缘图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49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节点可跳转，展开上下游，缩放查看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0000" y="4550000"/>
            <a:ext cx="4000000" cy="8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00" y="463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DFF"/>
                </a:solidFill>
                <a:latin typeface="Arial"/>
              </a:defRPr>
            </a:pPr>
            <a:r>
              <a:t>🏷️ Tag 筛选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00" y="49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按标签快速定位核心模型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P06 - 自动文档 + 血缘图 | Nick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3️⃣  高级文档 — docs block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5000000" cy="25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30000"/>
            <a:ext cx="48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-- models/docs.md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{% docs fct_orders_description %}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# 订单事实表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## 业务口径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包含**全部已支付**的订单记录。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已取消、未支付不在此表。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## 刷新策略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每日 08:00 增量刷新。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保留最近 3 年数据。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{% enddocs %}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3750000"/>
            <a:ext cx="5000000" cy="10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3830000"/>
            <a:ext cx="480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# schema.yml 引用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models: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- name: fct_orders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description: "{{ doc('fct_orders_description') }}"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0" y="1050000"/>
            <a:ext cx="3200000" cy="3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50000" y="1150000"/>
            <a:ext cx="2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DD"/>
                </a:solidFill>
                <a:latin typeface="Arial"/>
              </a:defRPr>
            </a:pPr>
            <a:r>
              <a:t>◆ 为什么需要 docs block？</a:t>
            </a:r>
          </a:p>
          <a:p>
            <a:pPr>
              <a:defRPr sz="10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000">
                <a:solidFill>
                  <a:srgbClr val="CCCCDD"/>
                </a:solidFill>
                <a:latin typeface="Arial"/>
              </a:defRPr>
            </a:pPr>
            <a:r>
              <a:t>◆ 长文档写在 YAML 里：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→ 格式难看、难编辑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→ 字符串转义问题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→ 多人编辑冲突</a:t>
            </a:r>
          </a:p>
          <a:p>
            <a:pPr>
              <a:defRPr sz="10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000">
                <a:solidFill>
                  <a:srgbClr val="CCCCDD"/>
                </a:solidFill>
                <a:latin typeface="Arial"/>
              </a:defRPr>
            </a:pPr>
            <a:r>
              <a:t>◆ docs block 解法：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独立的 .md 文件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支持完整 Markdown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{% docs name %}...{% enddocs %}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YAML 中用 {{ doc('name') }} 引用</a:t>
            </a:r>
          </a:p>
          <a:p>
            <a:pPr>
              <a:defRPr sz="10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000">
                <a:solidFill>
                  <a:srgbClr val="CCCCDD"/>
                </a:solidFill>
                <a:latin typeface="Arial"/>
              </a:defRPr>
            </a:pPr>
            <a:r>
              <a:t>◆ 💡 你项目已有：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models/docs.md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fct_orders_description</a:t>
            </a:r>
          </a:p>
          <a:p>
            <a:pPr lvl="1">
              <a:defRPr sz="800">
                <a:solidFill>
                  <a:srgbClr val="CCCCDD"/>
                </a:solidFill>
                <a:latin typeface="Arial"/>
              </a:defRPr>
            </a:pPr>
            <a:r>
              <a:t>  ◆ fct_orders_total_due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P06 - 自动文档 + 血缘图 | Nick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4️⃣  Tag 筛选 + 文档最佳实践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05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Tag 筛选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00" y="1400000"/>
            <a:ext cx="4000000" cy="1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480000"/>
            <a:ext cx="380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YAML 中加 tag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models: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- name: fct_orders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  config: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    tags: ['finance', 'core']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文档站按 tag 筛选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0000" y="1050000"/>
            <a:ext cx="4100000" cy="15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0000" y="1150000"/>
            <a:ext cx="3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C99"/>
                </a:solidFill>
                <a:latin typeface="Arial"/>
              </a:defRPr>
            </a:pPr>
            <a:r>
              <a:t>🏷️ 你的项目已配：</a:t>
            </a:r>
            <a:br/>
            <a:r>
              <a:t>  fct_orders → finance, core</a:t>
            </a:r>
            <a:br/>
            <a:r>
              <a:t>  stg_sales_order_header →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29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00" y="305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✅ 什么该写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3400000"/>
            <a:ext cx="4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CC66"/>
                </a:solidFill>
                <a:latin typeface="Arial"/>
              </a:defRPr>
            </a:pPr>
            <a:r>
              <a:t>◆ 表的业务含义</a:t>
            </a:r>
          </a:p>
          <a:p>
            <a:pPr>
              <a:defRPr sz="1200">
                <a:solidFill>
                  <a:srgbClr val="00CC66"/>
                </a:solidFill>
                <a:latin typeface="Arial"/>
              </a:defRPr>
            </a:pPr>
            <a:r>
              <a:t>◆ 字段的计算口径</a:t>
            </a:r>
          </a:p>
          <a:p>
            <a:pPr>
              <a:defRPr sz="1200">
                <a:solidFill>
                  <a:srgbClr val="00CC66"/>
                </a:solidFill>
                <a:latin typeface="Arial"/>
              </a:defRPr>
            </a:pPr>
            <a:r>
              <a:t>◆ 数据来源</a:t>
            </a:r>
          </a:p>
          <a:p>
            <a:pPr>
              <a:defRPr sz="1200">
                <a:solidFill>
                  <a:srgbClr val="00CC66"/>
                </a:solidFill>
                <a:latin typeface="Arial"/>
              </a:defRPr>
            </a:pPr>
            <a:r>
              <a:t>◆ 刷新频率</a:t>
            </a:r>
          </a:p>
          <a:p>
            <a:pPr>
              <a:defRPr sz="1200">
                <a:solidFill>
                  <a:srgbClr val="00CC66"/>
                </a:solidFill>
                <a:latin typeface="Arial"/>
              </a:defRPr>
            </a:pPr>
            <a:r>
              <a:t>◆ 数据范围</a:t>
            </a:r>
          </a:p>
          <a:p>
            <a:pPr>
              <a:defRPr sz="1200">
                <a:solidFill>
                  <a:srgbClr val="00CC66"/>
                </a:solidFill>
                <a:latin typeface="Arial"/>
              </a:defRPr>
            </a:pPr>
            <a:r>
              <a:t>◆ 约束（unique / not_null）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000" y="3050000"/>
            <a:ext cx="4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❌ 什么不该写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000" y="3400000"/>
            <a:ext cx="4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5555"/>
                </a:solidFill>
                <a:latin typeface="Arial"/>
              </a:defRPr>
            </a:pPr>
            <a:r>
              <a:t>◆ 技术实现细节（看了 SQL 就懂）</a:t>
            </a:r>
          </a:p>
          <a:p>
            <a:pPr>
              <a:defRPr sz="1200">
                <a:solidFill>
                  <a:srgbClr val="FF5555"/>
                </a:solidFill>
                <a:latin typeface="Arial"/>
              </a:defRPr>
            </a:pPr>
            <a:r>
              <a:t>◆ 人人都知道（"id 是标识符"）</a:t>
            </a:r>
          </a:p>
          <a:p>
            <a:pPr>
              <a:defRPr sz="1200">
                <a:solidFill>
                  <a:srgbClr val="FF5555"/>
                </a:solidFill>
                <a:latin typeface="Arial"/>
              </a:defRPr>
            </a:pPr>
            <a:r>
              <a:t>◆ 今天写明天忘的废话（"这个字段很重要"）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00" y="4800000"/>
            <a:ext cx="8300000" cy="1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000" y="4900000"/>
            <a:ext cx="79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BBDD"/>
                </a:solidFill>
                <a:latin typeface="Arial"/>
              </a:defRPr>
            </a:pPr>
            <a:r>
              <a:t>📝 文档模板 — 复制到你的项目填空：</a:t>
            </a:r>
            <a:br/>
            <a:r>
              <a:t>description: |</a:t>
            </a:r>
            <a:br/>
            <a:r>
              <a:t>  [一句话说明模型的作用]</a:t>
            </a:r>
            <a:br/>
            <a:r>
              <a:t>  ## 业务口径</a:t>
            </a:r>
            <a:br/>
            <a:r>
              <a:t>  [口径逻辑]</a:t>
            </a:r>
            <a:br/>
            <a:r>
              <a:t>  ## 数据范围</a:t>
            </a:r>
            <a:br/>
            <a:r>
              <a:t>  [保留多久、刷新频率]</a:t>
            </a:r>
            <a:br/>
            <a:r>
              <a:t>  ## 下游</a:t>
            </a:r>
            <a:br/>
            <a:r>
              <a:t>  [谁在用这个数据]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P06 - 自动文档 + 血缘图 | Nick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5️⃣  实操：给项目加文档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5000000" cy="25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30000"/>
            <a:ext cx="48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# 先看看你项目的文档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dbt docs generate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dbt docs serve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# 浏览器打开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open http://localhost:8080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# 停止服务</a:t>
            </a:r>
          </a:p>
          <a:p>
            <a:pPr>
              <a:defRPr sz="1300">
                <a:solidFill>
                  <a:srgbClr val="00CC99"/>
                </a:solidFill>
                <a:latin typeface="Courier New"/>
              </a:defRPr>
            </a:pPr>
            <a:r>
              <a:t>Ctrl+C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0" y="1050000"/>
            <a:ext cx="3200000" cy="25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0000" y="1150000"/>
            <a:ext cx="29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 docs generate：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读取 model + source 的描述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从数据库读取字段类型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生成 catalog.json + HTML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dbt docs serve：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启动本地 8080 端口</a:t>
            </a:r>
          </a:p>
          <a:p>
            <a:pPr lvl="1">
              <a:defRPr sz="1000">
                <a:solidFill>
                  <a:srgbClr val="CCCCDD"/>
                </a:solidFill>
                <a:latin typeface="Arial"/>
              </a:defRPr>
            </a:pPr>
            <a:r>
              <a:t>  ◆ 实时查看文档站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3800000"/>
            <a:ext cx="8300000" cy="25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3900000"/>
            <a:ext cx="7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📊  你可以在文档站里看到：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4250000"/>
            <a:ext cx="7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• project 总览：11 个 model + 31 个测试 + 90 个 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4650000"/>
            <a:ext cx="7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• fct_orders 详情页：docs block 富文本描述 + 字段口径 + 测试列表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5050000"/>
            <a:ext cx="7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• 血缘图：stg_sales_order_header → fct_orders 的可视化链路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5450000"/>
            <a:ext cx="7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• tag 筛选：core / finance 快速定位核心模型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P06 - 自动文档 + 血缘图 | Nick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🛠️  同声传译 — 工程师视角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25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1150000"/>
            <a:ext cx="2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dbt docs 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0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Unity Catalog lineage + COMMENTS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0" y="1100000"/>
            <a:ext cx="27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000" y="115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000" y="140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Unity Catalog lineage + COMMENTS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0000" y="1100000"/>
            <a:ext cx="30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0000" y="1150000"/>
            <a:ext cx="2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0000" y="140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一键文档站，不手写 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00" y="1950000"/>
            <a:ext cx="25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2000000"/>
            <a:ext cx="2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lineage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22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Spark UI DAG 可视化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0" y="1950000"/>
            <a:ext cx="27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0000" y="200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0000" y="22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Spark UI DAG 可视化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0000" y="1950000"/>
            <a:ext cx="30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0000" y="2000000"/>
            <a:ext cx="2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0000" y="225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数据血缘链路可视化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2800000"/>
            <a:ext cx="25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" y="2850000"/>
            <a:ext cx="2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schema.yml 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310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COMMENT ON TABLE/COLUMN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0000" y="2800000"/>
            <a:ext cx="27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0000" y="285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0000" y="310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COMMENT ON TABLE/COLUMN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0000" y="2800000"/>
            <a:ext cx="30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0000" y="2850000"/>
            <a:ext cx="2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0000" y="310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表和字段描述随代码管理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00" y="3650000"/>
            <a:ext cx="25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3700000"/>
            <a:ext cx="2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docs block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395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Markdown 长文档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0" y="3650000"/>
            <a:ext cx="27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50000" y="370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50000" y="395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Markdown 长文档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0000" y="3650000"/>
            <a:ext cx="30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0000" y="3700000"/>
            <a:ext cx="2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0000" y="395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口径说明、使用文档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0000" y="4500000"/>
            <a:ext cx="25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000" y="4550000"/>
            <a:ext cx="2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dbt docs serve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000" y="480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mkdocs / sphinx-autobuild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00000" y="4500000"/>
            <a:ext cx="27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50000" y="455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50000" y="4800000"/>
            <a:ext cx="2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mkdocs / sphinx-autobuild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00000" y="4500000"/>
            <a:ext cx="3000000" cy="7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0000" y="4550000"/>
            <a:ext cx="2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0000" y="480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本地 HTTP 预览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P06 - 自动文档 + 血缘图 | Nick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⚠️  工程师直觉陷阱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200000"/>
            <a:ext cx="8100000" cy="1200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3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5555"/>
                </a:solidFill>
                <a:latin typeface="Arial"/>
              </a:defRPr>
            </a:pPr>
            <a:r>
              <a:t>🔥 直觉陷阱</a:t>
            </a:r>
            <a:br/>
            <a:r>
              <a:t>文档写在 yaml 里？不是有数据目录工具（Alation / Atlan / Collibra）吗？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600000"/>
            <a:ext cx="8100000" cy="15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700000"/>
            <a:ext cx="7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C99"/>
                </a:solidFill>
                <a:latin typeface="Arial"/>
              </a:defRPr>
            </a:pPr>
            <a:r>
              <a:t>✅ dbt 的哲学</a:t>
            </a:r>
            <a:br/>
            <a:r>
              <a:t>文档应该离数据最近——跟 model 放在同一个 PR 里。</a:t>
            </a:r>
            <a:br/>
            <a:r>
              <a:t>改代码时顺手更新文档，代码审查顺带审了。</a:t>
            </a:r>
            <a:br/>
            <a:br/>
            <a:r>
              <a:t>数据目录工具管的是"数据资产目录"</a:t>
            </a:r>
            <a:br/>
            <a:r>
              <a:t>dbt docs 管的是"这张表怎么算出来的"</a:t>
            </a:r>
            <a:br/>
            <a:r>
              <a:t>两者互补，不互斥。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4300000"/>
            <a:ext cx="8100000" cy="12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44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BBDD"/>
                </a:solidFill>
                <a:latin typeface="Arial"/>
              </a:defRPr>
            </a:pPr>
            <a:r>
              <a:t>💡 实战映射</a:t>
            </a:r>
            <a:br/>
            <a:r>
              <a:t>药企平台里 Unity Catalog 管元数据治理、</a:t>
            </a:r>
            <a:br/>
            <a:r>
              <a:t>dbt docs 管口径说明——各司其职。</a:t>
            </a:r>
            <a:br/>
            <a:r>
              <a:t>dbt 负责血缘和业务口径，UC 负责治理和权限。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P06 - 自动文档 + 血缘图 | Nick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500000"/>
            <a:ext cx="7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C66"/>
                </a:solidFill>
                <a:latin typeface="Arial"/>
              </a:defRPr>
            </a:pPr>
            <a:r>
              <a:t>✅  本集完成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500000"/>
            <a:ext cx="7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你已学会：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00000"/>
            <a:ext cx="7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在 schema.yml 中写三层次描述（model/column/source）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docs generate + docs serve 一键生成文档站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docs block 自定义富文本说明书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tag 标签筛选核心模型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文档最佳实践：什么该写 / 什么不该写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45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DFF"/>
                </a:solidFill>
                <a:latin typeface="Arial"/>
              </a:defRPr>
            </a:pPr>
            <a:r>
              <a:t>下一集：P07 — 宏和包管理：告别重复代码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配套代码：github.com/raycdut/dbt-learn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DD"/>
                </a:solidFill>
                <a:latin typeface="Arial"/>
              </a:defRPr>
            </a:pPr>
            <a:r>
              <a:t>我是 Nick，下期见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