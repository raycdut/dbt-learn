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800000"/>
            <a:ext cx="7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9DFF"/>
                </a:solidFill>
                <a:latin typeface="Arial"/>
              </a:defRPr>
            </a:pPr>
            <a:r>
              <a:t>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800000"/>
            <a:ext cx="7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增量模型与物化策略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BBDD"/>
                </a:solidFill>
                <a:latin typeface="Arial"/>
              </a:defRPr>
            </a:pPr>
            <a:r>
              <a:t>dbt 从入门到精通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3900000"/>
            <a:ext cx="2000000" cy="30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1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Arial"/>
              </a:defRPr>
            </a:pPr>
            <a:r>
              <a:t>Nick  |  github.com/raycdut/dbt-learn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Arial"/>
              </a:defRPr>
            </a:pPr>
            <a:r>
              <a:t>《高级工程师视角下的 dbt 通关指南》系列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📋  为什么需要增量模型？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1100000"/>
            <a:ext cx="8100000" cy="14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00000"/>
            <a:ext cx="7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场景：你有 3 亿行订单数据，每天新增 50 万行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55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❌ full refresh 每天：删表重建，重读 3 亿行 → 40 分钟</a:t>
            </a:r>
            <a:br/>
            <a:r>
              <a:t>✅ incremental 每天：只读新增 50 万行 → 2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2800000"/>
            <a:ext cx="8100000" cy="1000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290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99"/>
                </a:solidFill>
                <a:latin typeface="Arial"/>
              </a:defRPr>
            </a:pPr>
            <a:r>
              <a:t>💡 核心思路：不做重复工作，只处理变化的数据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4100000"/>
            <a:ext cx="8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BBDD"/>
                </a:solidFill>
                <a:latin typeface="Arial"/>
              </a:defRPr>
            </a:pPr>
            <a:r>
              <a:t>什么时候该换 incremental？</a:t>
            </a:r>
            <a:br/>
            <a:r>
              <a:t>当你感觉到"dbt run 太慢了"的时候——百万级以下全量就行，以上必须增量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4800000"/>
            <a:ext cx="8100000" cy="1200000"/>
          </a:xfrm>
          <a:prstGeom prst="roundRect">
            <a:avLst/>
          </a:prstGeom>
          <a:solidFill>
            <a:srgbClr val="2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000" y="4900000"/>
            <a:ext cx="7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944"/>
                </a:solidFill>
                <a:latin typeface="Arial"/>
              </a:defRPr>
            </a:pPr>
            <a:r>
              <a:t>⚡ 和 Delta Lake 的 MERGE 是同一件事</a:t>
            </a:r>
            <a:br/>
            <a:r>
              <a:t>你在 Databricks 写 MERGE INTO + 增量过滤 → dbt 自动帮你生成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P04 - 增量模型与物化策略 | Nick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1️⃣  四种物化方式对比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050000"/>
            <a:ext cx="1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Arial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50000" y="1050000"/>
            <a:ext cx="15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Arial"/>
              </a:defRPr>
            </a:pPr>
            <a:r>
              <a:t>怎么存的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0" y="1050000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Arial"/>
              </a:defRPr>
            </a:pPr>
            <a:r>
              <a:t>刷新方式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000" y="1050000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Arial"/>
              </a:defRPr>
            </a:pPr>
            <a:r>
              <a:t>适用场景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0" y="1050000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Arial"/>
              </a:defRPr>
            </a:pPr>
            <a:r>
              <a:t>数据量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1400000"/>
            <a:ext cx="8300000" cy="2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0000" y="1550000"/>
            <a:ext cx="83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000" y="1650000"/>
            <a:ext cx="15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000" y="16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SQL 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0000" y="16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每次查询实时算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0" y="16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轻量过滤/stg层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1650000"/>
            <a:ext cx="1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00" y="2250000"/>
            <a:ext cx="83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000" y="2350000"/>
            <a:ext cx="15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0000" y="23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物理表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0000" y="23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每次 dbt run 重建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0000" y="23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小表/需要性能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0000" y="2350000"/>
            <a:ext cx="1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&lt; 100万行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" y="2950000"/>
            <a:ext cx="83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000" y="3050000"/>
            <a:ext cx="15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incremental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00000" y="30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物理表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0000" y="30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只处理增量数据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0000" y="30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大表/每日增量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0000" y="3050000"/>
            <a:ext cx="1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任意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000" y="3650000"/>
            <a:ext cx="83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000" y="3750000"/>
            <a:ext cx="15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ephemeral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00000" y="37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CTE 片段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0000" y="37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不落表/内联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000" y="375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中间逻辑复用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0000" y="3750000"/>
            <a:ext cx="1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极小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P04 - 增量模型与物化策略 | Nick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2️⃣  物化配置方式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全局设置（dbt_project.yml）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450000"/>
            <a:ext cx="4000000" cy="16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00" y="1530000"/>
            <a:ext cx="3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models: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my_first_project: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staging: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+materialized: view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intermediate: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+materialized: table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marts: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+materialized: incremental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33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单 model 设置（SQL 文件头）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3650000"/>
            <a:ext cx="4000000" cy="12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3730000"/>
            <a:ext cx="380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{{ config(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  materialized='incremental',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  unique_key='order_id'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) 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000" y="1100000"/>
            <a:ext cx="4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全局配置写在 dbt_project.yml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按目录层级覆盖：staging / int / marts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单 model 配置写在 SQL 头部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config() 覆盖全局设置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优先级：</a:t>
            </a:r>
          </a:p>
          <a:p>
            <a:pPr lvl="1">
              <a:defRPr sz="1100">
                <a:solidFill>
                  <a:srgbClr val="CCCCDD"/>
                </a:solidFill>
                <a:latin typeface="Arial"/>
              </a:defRPr>
            </a:pPr>
            <a:r>
              <a:t>  ◆ model 级 config &gt; 目录级 &gt; 全局默认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💡 和 Spark 一样：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全局 conf → session conf → SQL hint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P04 - 增量模型与物化策略 | Nick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3️⃣  Incremental 核心语法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5000000" cy="25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80000"/>
            <a:ext cx="48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{{ config(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  materialized='incremental',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  unique_key='order_id'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) }}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SELECT * FROM {{ ref('stg_orders') }}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{% if is_incremental() %}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WHERE created_at &gt;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  (SELECT MAX(created_at)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    FROM {{ this }})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{% endif %}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0" y="1100000"/>
            <a:ext cx="3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第一次 dbt run：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表不存在 → is_incremental = False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走全量 SELECT，没有 WHERE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创建目标表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第二次 dbt run：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表已存在 → is_incremental = True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WHERE 生效，只处理新数据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执行 MERGE INTO + 增量过滤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dbt run --full-refresh：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强制 is_incremental = False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全量重建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0000" y="3800000"/>
            <a:ext cx="8300000" cy="2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3900000"/>
            <a:ext cx="7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Arial"/>
              </a:defRPr>
            </a:pPr>
            <a:r>
              <a:t>✨ 关键语法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4200000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44"/>
                </a:solidFill>
                <a:latin typeface="Arial"/>
              </a:defRPr>
            </a:pPr>
            <a:r>
              <a:t>is_incremental()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420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→ 判断目标表是否存在？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4700000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44"/>
                </a:solidFill>
                <a:latin typeface="Arial"/>
              </a:defRPr>
            </a:pPr>
            <a:r>
              <a:t>{{ this 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0" y="470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→ 指向目标表自身的引用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5200000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44"/>
                </a:solidFill>
                <a:latin typeface="Arial"/>
              </a:defRPr>
            </a:pPr>
            <a:r>
              <a:t>unique_key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520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→ MERGE 的 ON 条件，去重键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00" y="5700000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44"/>
                </a:solidFill>
                <a:latin typeface="Arial"/>
              </a:defRPr>
            </a:pPr>
            <a:r>
              <a:t>incremental_strategy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0000" y="570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→ merge / delete+insert / append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P04 - 增量模型与物化策略 | Nick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4️⃣  三种增量策略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2700000" cy="2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DFF"/>
                </a:solidFill>
                <a:latin typeface="Arial"/>
              </a:defRPr>
            </a:pPr>
            <a:r>
              <a:t>① merge（默认）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" y="1500000"/>
            <a:ext cx="2600000" cy="7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0000" y="1580000"/>
            <a:ext cx="2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MERGE INTO t USING s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ON t.id = s.id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WHEN MATCHED UPDATE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WHEN NOT MATCHED INSERT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23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有则更新，无则插入</a:t>
            </a:r>
            <a:br/>
            <a:r>
              <a:t>适合：可更新的订单表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000" y="1100000"/>
            <a:ext cx="2700000" cy="2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000" y="11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44"/>
                </a:solidFill>
                <a:latin typeface="Arial"/>
              </a:defRPr>
            </a:pPr>
            <a:r>
              <a:t>② delete+insert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0000" y="1500000"/>
            <a:ext cx="2600000" cy="7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0000" y="1580000"/>
            <a:ext cx="2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DELETE FROM t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WHERE id IN (SELECT id FROM s);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INSERT INTO t SELECT * FROM s;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000" y="23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先删后插，适合：审计轨迹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000" y="1100000"/>
            <a:ext cx="2700000" cy="2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0000" y="11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66"/>
                </a:solidFill>
                <a:latin typeface="Arial"/>
              </a:defRPr>
            </a:pPr>
            <a:r>
              <a:t>③ append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0000" y="1500000"/>
            <a:ext cx="2600000" cy="7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0000" y="1580000"/>
            <a:ext cx="2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INSERT INTO t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SELECT * FROM s;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-- 不检查 unique_key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0000" y="23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只追加不更新，最快</a:t>
            </a:r>
            <a:br/>
            <a:r>
              <a:t>适合：日志/事件流水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000" y="3800000"/>
            <a:ext cx="8300000" cy="2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000" y="3900000"/>
            <a:ext cx="7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📊  策略选择指南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000" y="42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订单表（可更新）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000" y="42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99"/>
                </a:solidFill>
                <a:latin typeface="Arial"/>
              </a:defRPr>
            </a:pPr>
            <a:r>
              <a:t>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000" y="42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→ 支持 upsert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00" y="462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订单表（只增不改）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000" y="462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99"/>
                </a:solidFill>
                <a:latin typeface="Arial"/>
              </a:defRPr>
            </a:pPr>
            <a:r>
              <a:t>append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000" y="462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→ 更快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000" y="504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快照维度表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000" y="504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99"/>
                </a:solidFill>
                <a:latin typeface="Arial"/>
              </a:defRPr>
            </a:pPr>
            <a:r>
              <a:t>merge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000" y="504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→ 需要覆盖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00" y="546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日志表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000" y="546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99"/>
                </a:solidFill>
                <a:latin typeface="Arial"/>
              </a:defRPr>
            </a:pPr>
            <a:r>
              <a:t>append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000" y="54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→ 只增不改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000" y="588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需要审计轨迹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000" y="588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99"/>
                </a:solidFill>
                <a:latin typeface="Arial"/>
              </a:defRPr>
            </a:pPr>
            <a:r>
              <a:t>delete+insert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000" y="588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→ 先删再插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P04 - 增量模型与物化策略 | Nick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5️⃣  实战改造 — fct_orders 增量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5000000" cy="32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80000"/>
            <a:ext cx="4800000" cy="3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{{ config(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materialized='incremental',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unique_key='sales_order_id',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incremental_strategy='merge'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) }}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SELECT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h.sales_order_id,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h.order_date,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h.customer_id,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h.total_due,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h.status_code,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CASE h.status_code ...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  END AS status_label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FROM {{ ref('stg_sales_order_header') }} h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LEFT JOIN {{ ref('stg_customer') }} c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ON h.customer_id = c.customer_id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{% if is_incremental() %}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WHERE h.order_date &gt;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(SELECT MAX(order_date)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  FROM {{ this }})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{% endif %}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0" y="1100000"/>
            <a:ext cx="3200000" cy="2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0000" y="12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66"/>
                </a:solidFill>
                <a:latin typeface="Arial"/>
              </a:defRPr>
            </a:pPr>
            <a:r>
              <a:t>📈 运行结果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0000" y="160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44"/>
                </a:solidFill>
                <a:latin typeface="Arial"/>
              </a:defRPr>
            </a:pPr>
            <a:r>
              <a:t>1st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000" y="160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Full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0000" y="160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C66"/>
                </a:solidFill>
                <a:latin typeface="Arial"/>
              </a:defRPr>
            </a:pPr>
            <a:r>
              <a:t>31,465 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0000" y="220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44"/>
                </a:solidFill>
                <a:latin typeface="Arial"/>
              </a:defRPr>
            </a:pPr>
            <a:r>
              <a:t>2nd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0000" y="220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Incremental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0000" y="220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C66"/>
                </a:solidFill>
                <a:latin typeface="Arial"/>
              </a:defRPr>
            </a:pPr>
            <a:r>
              <a:t>0 行（无新数据）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0000" y="280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44"/>
                </a:solidFill>
                <a:latin typeface="Arial"/>
              </a:defRPr>
            </a:pPr>
            <a:r>
              <a:t>--full-refresh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0000" y="280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Recreate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0000" y="280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C66"/>
                </a:solidFill>
                <a:latin typeface="Arial"/>
              </a:defRPr>
            </a:pPr>
            <a:r>
              <a:t>31,465 行重建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000" y="35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→ 新增文件：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0" y="380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models/marts/fct_orders.sql</a:t>
            </a:r>
            <a:br/>
            <a:r>
              <a:t>models/marts/_marts__models.yml</a:t>
            </a:r>
            <a:br/>
            <a:br/>
            <a:r>
              <a:t>测试（4 个）：</a:t>
            </a:r>
            <a:br/>
            <a:r>
              <a:t>unique(sales_order_id)</a:t>
            </a:r>
            <a:br/>
            <a:r>
              <a:t>not_null(sales_order_id)</a:t>
            </a:r>
            <a:br/>
            <a:r>
              <a:t>not_null(order_date)</a:t>
            </a:r>
            <a:br/>
            <a:r>
              <a:t>not_null(customer_id)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000" y="4500000"/>
            <a:ext cx="8300000" cy="18000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000" y="4600000"/>
            <a:ext cx="7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Arial"/>
              </a:defRPr>
            </a:pPr>
            <a:r>
              <a:t>☁️  生产部署注意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000" y="4950000"/>
            <a:ext cx="79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• 日常调度：dbt run（自动增量 MERGE）</a:t>
            </a:r>
            <a:br/>
            <a:r>
              <a:t>• 全量重建：dbt run --full-refresh 或 Airflow 传参 {"full_refresh": true}</a:t>
            </a:r>
            <a:br/>
            <a:r>
              <a:t>• Cosmos 集成：DbtDag + DuckDBLocalProfileMapping，无需 profiles.yml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P04 - 增量模型与物化策略 | Nick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📌  常用命令速查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1100000"/>
            <a:ext cx="3700000" cy="65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200000"/>
            <a:ext cx="3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C44"/>
                </a:solidFill>
                <a:latin typeface="Arial"/>
              </a:defRPr>
            </a:pPr>
            <a:r>
              <a:t>dbt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0000" y="1200000"/>
            <a:ext cx="43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增量/全量按配置执行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950000"/>
            <a:ext cx="3700000" cy="65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2050000"/>
            <a:ext cx="3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C44"/>
                </a:solidFill>
                <a:latin typeface="Arial"/>
              </a:defRPr>
            </a:pPr>
            <a:r>
              <a:t>dbt run --full-refresh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0000" y="2050000"/>
            <a:ext cx="43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强制全量重建所有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2800000"/>
            <a:ext cx="3700000" cy="65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000" y="2900000"/>
            <a:ext cx="3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C44"/>
                </a:solidFill>
                <a:latin typeface="Arial"/>
              </a:defRPr>
            </a:pPr>
            <a:r>
              <a:t>dbt run --select fct_orders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0000" y="2900000"/>
            <a:ext cx="43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只跑指定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00" y="3650000"/>
            <a:ext cx="3700000" cy="65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000" y="3750000"/>
            <a:ext cx="3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C44"/>
                </a:solidFill>
                <a:latin typeface="Arial"/>
              </a:defRPr>
            </a:pPr>
            <a:r>
              <a:t>dbt run --select fct_orders --full-refresh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0000" y="3750000"/>
            <a:ext cx="43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只重建指定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000" y="4500000"/>
            <a:ext cx="3700000" cy="65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00" y="4600000"/>
            <a:ext cx="3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C44"/>
                </a:solidFill>
                <a:latin typeface="Arial"/>
              </a:defRPr>
            </a:pPr>
            <a:r>
              <a:t>dbt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0000" y="4600000"/>
            <a:ext cx="43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seed + run + test 一步到位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000" y="5350000"/>
            <a:ext cx="3700000" cy="65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000" y="5450000"/>
            <a:ext cx="3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C44"/>
                </a:solidFill>
                <a:latin typeface="Arial"/>
              </a:defRPr>
            </a:pPr>
            <a:r>
              <a:t>dbt test --select fct_orders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0000" y="5450000"/>
            <a:ext cx="43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只跑特定 model 的测试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000" y="6200000"/>
            <a:ext cx="8100000" cy="1"/>
          </a:xfrm>
          <a:prstGeom prst="round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P04 - 增量模型与物化策略 | Nick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🛠️  同声传译 — 工程师视角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11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materialized='view'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3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Spark SQL CREATE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0" y="11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0000" y="11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0000" y="13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Spark SQL CREATE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0000" y="11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0000" y="11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0000" y="13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每次查询实时算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00" y="18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18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materialized='table'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20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Spark SQL CTAS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0" y="18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0000" y="18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0000" y="2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Spark SQL CTAS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0000" y="18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0000" y="18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0000" y="20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先算好存起来，查表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" y="25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" y="25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materialized='incremental'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00" y="27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Delta MERGE INTO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00000" y="25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50000" y="25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0000" y="27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Delta MERGE INTO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0000" y="25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0000" y="25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0000" y="27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只处理增量，不全量重跑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00" y="32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" y="32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materialized='ephemeral'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000" y="34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WITH CTE 子句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000" y="32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50000" y="32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50000" y="34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WITH CTE 子句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0000" y="32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0000" y="32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0000" y="34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中间表不落盘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0000" y="39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000" y="39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is_incremental()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000" y="41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检查目标 Delta 表存在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00000" y="39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50000" y="39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50000" y="41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检查目标 Delta 表存在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00000" y="39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0000" y="39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0000" y="41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第一次全量，之后增量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0000" y="46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000" y="46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incremental_strategy='merge'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000" y="48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Delta MERGE ON key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00000" y="46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50000" y="46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50000" y="48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Delta MERGE ON key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00000" y="46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0000" y="46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0000" y="48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有则更新无则插入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0000" y="53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0000" y="53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on_schema_change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0000" y="55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Spark schema evolution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00000" y="53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50000" y="53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50000" y="55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Spark schema evolution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800000" y="53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0000" y="53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0000" y="55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源表加列了怎么处理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P04 - 增量模型与物化策略 | Nick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⚠️  工程师直觉陷阱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1200000"/>
            <a:ext cx="8100000" cy="12000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300000"/>
            <a:ext cx="7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5555"/>
                </a:solidFill>
                <a:latin typeface="Arial"/>
              </a:defRPr>
            </a:pPr>
            <a:r>
              <a:t>🔥 直觉陷阱</a:t>
            </a:r>
            <a:br/>
            <a:r>
              <a:t>"增量模型好复杂，全量建 view 不是更简单吗？"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600000"/>
            <a:ext cx="8100000" cy="1500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700000"/>
            <a:ext cx="78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C99"/>
                </a:solidFill>
                <a:latin typeface="Arial"/>
              </a:defRPr>
            </a:pPr>
            <a:r>
              <a:t>✅ 事实</a:t>
            </a:r>
            <a:br/>
            <a:r>
              <a:t>• view 简单但每次查询都重新算，百万级数据慢到怀疑人生</a:t>
            </a:r>
            <a:br/>
            <a:r>
              <a:t>• incremental 第一次麻烦，之后每次只处理增量</a:t>
            </a:r>
            <a:br/>
            <a:r>
              <a:t>• 就像 Delta 表做 MERGE INTO — 第一次全量写入，之后每天只写增量</a:t>
            </a:r>
            <a:br/>
            <a:r>
              <a:t>• dbt 用配置声明，连 MERGE SQL 都不用你手写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4300000"/>
            <a:ext cx="8100000" cy="12000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4400000"/>
            <a:ext cx="7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BBDD"/>
                </a:solidFill>
                <a:latin typeface="Arial"/>
              </a:defRPr>
            </a:pPr>
            <a:r>
              <a:t>💡 实战映射</a:t>
            </a:r>
            <a:br/>
            <a:r>
              <a:t>在 A 股量化系统里，每日行情数据就是完美的增量场景——</a:t>
            </a:r>
            <a:br/>
            <a:r>
              <a:t>T 日只处理 T 日的数据，不需要重算历史。</a:t>
            </a:r>
            <a:br/>
            <a:r>
              <a:t>用 dbt 的 incremental mode 配合 DuckDB 的增量策略，</a:t>
            </a:r>
            <a:br/>
            <a:r>
              <a:t>比手写 Python 脚本干净得多。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P04 - 增量模型与物化策略 | Nick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❓  常见问题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2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44"/>
                </a:solidFill>
                <a:latin typeface="Arial"/>
              </a:defRPr>
            </a:pPr>
            <a:r>
              <a:t>Q：第一次跑增量 model 很慢？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6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A：正常。第一次是全量构建，第二次开始才是增量。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21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225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44"/>
                </a:solidFill>
                <a:latin typeface="Arial"/>
              </a:defRPr>
            </a:pPr>
            <a:r>
              <a:t>Q：增量跑错了，想全量重建？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265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A：dbt run --full-refresh --select model_name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315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000" y="33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44"/>
                </a:solidFill>
                <a:latin typeface="Arial"/>
              </a:defRPr>
            </a:pPr>
            <a:r>
              <a:t>Q：怎么确认增量生效了？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37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A：看 log：看到 "incremental model" 就是增量模式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42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000" y="435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44"/>
                </a:solidFill>
                <a:latin typeface="Arial"/>
              </a:defRPr>
            </a:pPr>
            <a:r>
              <a:t>Q：unique_key 选错会怎样？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" y="475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A：重复数据。选业务主键或 surrogate key。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525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000" y="54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44"/>
                </a:solidFill>
                <a:latin typeface="Arial"/>
              </a:defRPr>
            </a:pPr>
            <a:r>
              <a:t>Q：on_schema_change 怎么配？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58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A：源表加列时用 sync_all_columns 自动同步结构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P04 - 增量模型与物化策略 | Nick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500000"/>
            <a:ext cx="7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C66"/>
                </a:solidFill>
                <a:latin typeface="Arial"/>
              </a:defRPr>
            </a:pPr>
            <a:r>
              <a:t>✅  本集完成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500000"/>
            <a:ext cx="7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你已学会：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800000"/>
            <a:ext cx="7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四种物化方式的取舍：view / table / incremental / ephemeral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incremental 核心语法：is_incremental / this / unique_key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三种增量策略：merge / delete+insert / append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实战：fct_orders 改增量 + marts 测试定义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Airflow Cosmos 集成模式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45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7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DFF"/>
                </a:solidFill>
                <a:latin typeface="Arial"/>
              </a:defRPr>
            </a:pPr>
            <a:r>
              <a:t>下一集：P05 — 测试与数据质量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Arial"/>
              </a:defRPr>
            </a:pPr>
            <a:r>
              <a:t>配套代码：github.com/raycdut/dbt-learn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57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DD"/>
                </a:solidFill>
                <a:latin typeface="Arial"/>
              </a:defRPr>
            </a:pPr>
            <a:r>
              <a:t>我是 Nick，下期见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